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7" r:id="rId2"/>
    <p:sldId id="279" r:id="rId3"/>
    <p:sldId id="259" r:id="rId4"/>
    <p:sldId id="260" r:id="rId5"/>
    <p:sldId id="278" r:id="rId6"/>
    <p:sldId id="262" r:id="rId7"/>
    <p:sldId id="263" r:id="rId8"/>
    <p:sldId id="264" r:id="rId9"/>
    <p:sldId id="272" r:id="rId10"/>
    <p:sldId id="274" r:id="rId11"/>
    <p:sldId id="275" r:id="rId12"/>
    <p:sldId id="277" r:id="rId13"/>
    <p:sldId id="269" r:id="rId14"/>
    <p:sldId id="271" r:id="rId15"/>
    <p:sldId id="270" r:id="rId16"/>
    <p:sldId id="280" r:id="rId17"/>
    <p:sldId id="281" r:id="rId18"/>
    <p:sldId id="282" r:id="rId19"/>
    <p:sldId id="283" r:id="rId20"/>
    <p:sldId id="284" r:id="rId21"/>
    <p:sldId id="285" r:id="rId22"/>
    <p:sldId id="286" r:id="rId23"/>
  </p:sldIdLst>
  <p:sldSz cx="9144000" cy="6858000" type="screen4x3"/>
  <p:notesSz cx="6858000" cy="9144000"/>
  <p:embeddedFontLst>
    <p:embeddedFont>
      <p:font typeface="Century Gothic" panose="020B0502020202020204" pitchFamily="34" charset="0"/>
      <p:regular r:id="rId25"/>
      <p:bold r:id="rId26"/>
      <p:italic r:id="rId27"/>
      <p:boldItalic r:id="rId28"/>
    </p:embeddedFont>
    <p:embeddedFont>
      <p:font typeface="Libre Franklin Medium" pitchFamily="2" charset="0"/>
      <p:regular r:id="rId29"/>
      <p:bold r:id="rId30"/>
      <p:italic r:id="rId31"/>
      <p:boldItalic r:id="rId32"/>
    </p:embeddedFont>
    <p:embeddedFont>
      <p:font typeface="Merriweather" panose="000005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AOLsFPjvIE5kXwT+scsUtbzxc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CEC"/>
    <a:srgbClr val="DF8165"/>
    <a:srgbClr val="4FA8A1"/>
    <a:srgbClr val="1547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EBF84F-E5FC-45DB-81B0-47D622580E10}" v="43" dt="2025-12-02T21:25:24.5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299" autoAdjust="0"/>
  </p:normalViewPr>
  <p:slideViewPr>
    <p:cSldViewPr snapToGrid="0">
      <p:cViewPr varScale="1">
        <p:scale>
          <a:sx n="87" d="100"/>
          <a:sy n="87" d="100"/>
        </p:scale>
        <p:origin x="1330" y="67"/>
      </p:cViewPr>
      <p:guideLst/>
    </p:cSldViewPr>
  </p:slideViewPr>
  <p:notesTextViewPr>
    <p:cViewPr>
      <p:scale>
        <a:sx n="1" d="1"/>
        <a:sy n="1" d="1"/>
      </p:scale>
      <p:origin x="0" y="0"/>
    </p:cViewPr>
  </p:notesTextViewPr>
  <p:sorterViewPr>
    <p:cViewPr>
      <p:scale>
        <a:sx n="100" d="100"/>
        <a:sy n="100" d="100"/>
      </p:scale>
      <p:origin x="0" y="-3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0.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ão Franco" userId="9fb93ff5c25ff7e7" providerId="LiveId" clId="{F408C2B5-16C5-48A6-842A-3923198F2B4A}"/>
    <pc:docChg chg="undo custSel addSld delSld modSld sldOrd modMainMaster">
      <pc:chgData name="João Franco" userId="9fb93ff5c25ff7e7" providerId="LiveId" clId="{F408C2B5-16C5-48A6-842A-3923198F2B4A}" dt="2025-12-02T21:25:30.476" v="682" actId="1036"/>
      <pc:docMkLst>
        <pc:docMk/>
      </pc:docMkLst>
      <pc:sldChg chg="del">
        <pc:chgData name="João Franco" userId="9fb93ff5c25ff7e7" providerId="LiveId" clId="{F408C2B5-16C5-48A6-842A-3923198F2B4A}" dt="2025-12-02T18:49:17.538" v="398" actId="47"/>
        <pc:sldMkLst>
          <pc:docMk/>
          <pc:sldMk cId="0" sldId="256"/>
        </pc:sldMkLst>
      </pc:sldChg>
      <pc:sldChg chg="del mod modShow">
        <pc:chgData name="João Franco" userId="9fb93ff5c25ff7e7" providerId="LiveId" clId="{F408C2B5-16C5-48A6-842A-3923198F2B4A}" dt="2025-12-02T18:49:16.953" v="397" actId="47"/>
        <pc:sldMkLst>
          <pc:docMk/>
          <pc:sldMk cId="0" sldId="258"/>
        </pc:sldMkLst>
      </pc:sldChg>
      <pc:sldChg chg="addSp delSp modSp mod">
        <pc:chgData name="João Franco" userId="9fb93ff5c25ff7e7" providerId="LiveId" clId="{F408C2B5-16C5-48A6-842A-3923198F2B4A}" dt="2025-12-02T18:53:36.435" v="517" actId="20577"/>
        <pc:sldMkLst>
          <pc:docMk/>
          <pc:sldMk cId="0" sldId="259"/>
        </pc:sldMkLst>
        <pc:spChg chg="add mod">
          <ac:chgData name="João Franco" userId="9fb93ff5c25ff7e7" providerId="LiveId" clId="{F408C2B5-16C5-48A6-842A-3923198F2B4A}" dt="2025-12-02T18:49:43.153" v="414"/>
          <ac:spMkLst>
            <pc:docMk/>
            <pc:sldMk cId="0" sldId="259"/>
            <ac:spMk id="2" creationId="{007AE543-CEB6-CB7C-4FF1-1AF944C58A58}"/>
          </ac:spMkLst>
        </pc:spChg>
        <pc:spChg chg="add mod">
          <ac:chgData name="João Franco" userId="9fb93ff5c25ff7e7" providerId="LiveId" clId="{F408C2B5-16C5-48A6-842A-3923198F2B4A}" dt="2025-12-02T18:49:51.419" v="419"/>
          <ac:spMkLst>
            <pc:docMk/>
            <pc:sldMk cId="0" sldId="259"/>
            <ac:spMk id="3" creationId="{840A10AF-69BE-1EE7-F6B3-1AD9089B3333}"/>
          </ac:spMkLst>
        </pc:spChg>
        <pc:spChg chg="add mod">
          <ac:chgData name="João Franco" userId="9fb93ff5c25ff7e7" providerId="LiveId" clId="{F408C2B5-16C5-48A6-842A-3923198F2B4A}" dt="2025-12-02T18:53:36.435" v="517" actId="20577"/>
          <ac:spMkLst>
            <pc:docMk/>
            <pc:sldMk cId="0" sldId="259"/>
            <ac:spMk id="4" creationId="{3D56BBD6-74D0-7862-7281-BD27307C291C}"/>
          </ac:spMkLst>
        </pc:spChg>
        <pc:spChg chg="mod">
          <ac:chgData name="João Franco" userId="9fb93ff5c25ff7e7" providerId="LiveId" clId="{F408C2B5-16C5-48A6-842A-3923198F2B4A}" dt="2025-12-02T18:32:52.261" v="82"/>
          <ac:spMkLst>
            <pc:docMk/>
            <pc:sldMk cId="0" sldId="259"/>
            <ac:spMk id="53" creationId="{00000000-0000-0000-0000-000000000000}"/>
          </ac:spMkLst>
        </pc:spChg>
        <pc:spChg chg="del mod">
          <ac:chgData name="João Franco" userId="9fb93ff5c25ff7e7" providerId="LiveId" clId="{F408C2B5-16C5-48A6-842A-3923198F2B4A}" dt="2025-12-02T18:49:49.118" v="418" actId="478"/>
          <ac:spMkLst>
            <pc:docMk/>
            <pc:sldMk cId="0" sldId="259"/>
            <ac:spMk id="54" creationId="{00000000-0000-0000-0000-000000000000}"/>
          </ac:spMkLst>
        </pc:spChg>
        <pc:spChg chg="del mod">
          <ac:chgData name="João Franco" userId="9fb93ff5c25ff7e7" providerId="LiveId" clId="{F408C2B5-16C5-48A6-842A-3923198F2B4A}" dt="2025-12-02T18:32:53.932" v="83" actId="478"/>
          <ac:spMkLst>
            <pc:docMk/>
            <pc:sldMk cId="0" sldId="259"/>
            <ac:spMk id="55" creationId="{00000000-0000-0000-0000-000000000000}"/>
          </ac:spMkLst>
        </pc:spChg>
      </pc:sldChg>
      <pc:sldChg chg="addSp delSp modSp mod">
        <pc:chgData name="João Franco" userId="9fb93ff5c25ff7e7" providerId="LiveId" clId="{F408C2B5-16C5-48A6-842A-3923198F2B4A}" dt="2025-12-02T18:49:41.003" v="413" actId="14100"/>
        <pc:sldMkLst>
          <pc:docMk/>
          <pc:sldMk cId="0" sldId="260"/>
        </pc:sldMkLst>
        <pc:spChg chg="add mod">
          <ac:chgData name="João Franco" userId="9fb93ff5c25ff7e7" providerId="LiveId" clId="{F408C2B5-16C5-48A6-842A-3923198F2B4A}" dt="2025-12-02T18:49:41.003" v="413" actId="14100"/>
          <ac:spMkLst>
            <pc:docMk/>
            <pc:sldMk cId="0" sldId="260"/>
            <ac:spMk id="2" creationId="{21E8DB1F-6810-BE2E-5773-69EA9523A740}"/>
          </ac:spMkLst>
        </pc:spChg>
        <pc:spChg chg="del mod">
          <ac:chgData name="João Franco" userId="9fb93ff5c25ff7e7" providerId="LiveId" clId="{F408C2B5-16C5-48A6-842A-3923198F2B4A}" dt="2025-12-02T18:49:37.186" v="411" actId="478"/>
          <ac:spMkLst>
            <pc:docMk/>
            <pc:sldMk cId="0" sldId="260"/>
            <ac:spMk id="64" creationId="{00000000-0000-0000-0000-000000000000}"/>
          </ac:spMkLst>
        </pc:spChg>
      </pc:sldChg>
      <pc:sldChg chg="del">
        <pc:chgData name="João Franco" userId="9fb93ff5c25ff7e7" providerId="LiveId" clId="{F408C2B5-16C5-48A6-842A-3923198F2B4A}" dt="2025-12-02T18:49:16.112" v="396" actId="47"/>
        <pc:sldMkLst>
          <pc:docMk/>
          <pc:sldMk cId="0" sldId="261"/>
        </pc:sldMkLst>
      </pc:sldChg>
      <pc:sldChg chg="addSp delSp modSp mod">
        <pc:chgData name="João Franco" userId="9fb93ff5c25ff7e7" providerId="LiveId" clId="{F408C2B5-16C5-48A6-842A-3923198F2B4A}" dt="2025-12-02T18:48:12.219" v="385" actId="478"/>
        <pc:sldMkLst>
          <pc:docMk/>
          <pc:sldMk cId="0" sldId="262"/>
        </pc:sldMkLst>
        <pc:spChg chg="add mod">
          <ac:chgData name="João Franco" userId="9fb93ff5c25ff7e7" providerId="LiveId" clId="{F408C2B5-16C5-48A6-842A-3923198F2B4A}" dt="2025-12-02T18:43:27.962" v="354" actId="1036"/>
          <ac:spMkLst>
            <pc:docMk/>
            <pc:sldMk cId="0" sldId="262"/>
            <ac:spMk id="5" creationId="{2AE65C5D-9DFF-0649-ADF7-4789C154DD44}"/>
          </ac:spMkLst>
        </pc:spChg>
        <pc:spChg chg="add mod">
          <ac:chgData name="João Franco" userId="9fb93ff5c25ff7e7" providerId="LiveId" clId="{F408C2B5-16C5-48A6-842A-3923198F2B4A}" dt="2025-12-02T18:43:27.962" v="354" actId="1036"/>
          <ac:spMkLst>
            <pc:docMk/>
            <pc:sldMk cId="0" sldId="262"/>
            <ac:spMk id="6" creationId="{06EEF73E-0F08-6849-6C24-23A5D1A18CC1}"/>
          </ac:spMkLst>
        </pc:spChg>
        <pc:spChg chg="add del mod">
          <ac:chgData name="João Franco" userId="9fb93ff5c25ff7e7" providerId="LiveId" clId="{F408C2B5-16C5-48A6-842A-3923198F2B4A}" dt="2025-12-02T18:48:12.219" v="385" actId="478"/>
          <ac:spMkLst>
            <pc:docMk/>
            <pc:sldMk cId="0" sldId="262"/>
            <ac:spMk id="8" creationId="{D99B817B-B758-072B-FF4B-9014ED76A9FC}"/>
          </ac:spMkLst>
        </pc:spChg>
        <pc:spChg chg="add mod">
          <ac:chgData name="João Franco" userId="9fb93ff5c25ff7e7" providerId="LiveId" clId="{F408C2B5-16C5-48A6-842A-3923198F2B4A}" dt="2025-12-02T18:48:09.589" v="384" actId="20577"/>
          <ac:spMkLst>
            <pc:docMk/>
            <pc:sldMk cId="0" sldId="262"/>
            <ac:spMk id="9" creationId="{BB91F800-4F82-20F3-A8F6-71AC03DAB358}"/>
          </ac:spMkLst>
        </pc:spChg>
        <pc:spChg chg="del">
          <ac:chgData name="João Franco" userId="9fb93ff5c25ff7e7" providerId="LiveId" clId="{F408C2B5-16C5-48A6-842A-3923198F2B4A}" dt="2025-12-02T18:48:06.010" v="379" actId="478"/>
          <ac:spMkLst>
            <pc:docMk/>
            <pc:sldMk cId="0" sldId="262"/>
            <ac:spMk id="81" creationId="{00000000-0000-0000-0000-000000000000}"/>
          </ac:spMkLst>
        </pc:spChg>
        <pc:spChg chg="del">
          <ac:chgData name="João Franco" userId="9fb93ff5c25ff7e7" providerId="LiveId" clId="{F408C2B5-16C5-48A6-842A-3923198F2B4A}" dt="2025-12-02T18:33:00.670" v="84" actId="478"/>
          <ac:spMkLst>
            <pc:docMk/>
            <pc:sldMk cId="0" sldId="262"/>
            <ac:spMk id="82" creationId="{00000000-0000-0000-0000-000000000000}"/>
          </ac:spMkLst>
        </pc:spChg>
        <pc:picChg chg="add del mod">
          <ac:chgData name="João Franco" userId="9fb93ff5c25ff7e7" providerId="LiveId" clId="{F408C2B5-16C5-48A6-842A-3923198F2B4A}" dt="2025-12-02T18:41:41.740" v="87" actId="21"/>
          <ac:picMkLst>
            <pc:docMk/>
            <pc:sldMk cId="0" sldId="262"/>
            <ac:picMk id="3" creationId="{4DAAC812-234A-0034-8A43-C372C54A6533}"/>
          </ac:picMkLst>
        </pc:picChg>
        <pc:picChg chg="add mod">
          <ac:chgData name="João Franco" userId="9fb93ff5c25ff7e7" providerId="LiveId" clId="{F408C2B5-16C5-48A6-842A-3923198F2B4A}" dt="2025-12-02T18:41:47.660" v="116" actId="1035"/>
          <ac:picMkLst>
            <pc:docMk/>
            <pc:sldMk cId="0" sldId="262"/>
            <ac:picMk id="4" creationId="{4DAAC812-234A-0034-8A43-C372C54A6533}"/>
          </ac:picMkLst>
        </pc:picChg>
        <pc:picChg chg="del">
          <ac:chgData name="João Franco" userId="9fb93ff5c25ff7e7" providerId="LiveId" clId="{F408C2B5-16C5-48A6-842A-3923198F2B4A}" dt="2025-12-02T18:41:42.677" v="88" actId="478"/>
          <ac:picMkLst>
            <pc:docMk/>
            <pc:sldMk cId="0" sldId="262"/>
            <ac:picMk id="83" creationId="{00000000-0000-0000-0000-000000000000}"/>
          </ac:picMkLst>
        </pc:picChg>
      </pc:sldChg>
      <pc:sldChg chg="addSp delSp modSp mod">
        <pc:chgData name="João Franco" userId="9fb93ff5c25ff7e7" providerId="LiveId" clId="{F408C2B5-16C5-48A6-842A-3923198F2B4A}" dt="2025-12-02T19:38:43.900" v="603" actId="478"/>
        <pc:sldMkLst>
          <pc:docMk/>
          <pc:sldMk cId="0" sldId="263"/>
        </pc:sldMkLst>
        <pc:spChg chg="add mod">
          <ac:chgData name="João Franco" userId="9fb93ff5c25ff7e7" providerId="LiveId" clId="{F408C2B5-16C5-48A6-842A-3923198F2B4A}" dt="2025-12-02T18:47:17.688" v="355"/>
          <ac:spMkLst>
            <pc:docMk/>
            <pc:sldMk cId="0" sldId="263"/>
            <ac:spMk id="4" creationId="{3E899962-701B-5BAA-565E-6A46CDB3C458}"/>
          </ac:spMkLst>
        </pc:spChg>
        <pc:spChg chg="add mod">
          <ac:chgData name="João Franco" userId="9fb93ff5c25ff7e7" providerId="LiveId" clId="{F408C2B5-16C5-48A6-842A-3923198F2B4A}" dt="2025-12-02T18:47:27.588" v="371" actId="20577"/>
          <ac:spMkLst>
            <pc:docMk/>
            <pc:sldMk cId="0" sldId="263"/>
            <ac:spMk id="5" creationId="{E289E8EA-19CB-4E5B-9423-BA1AB5D0CFB1}"/>
          </ac:spMkLst>
        </pc:spChg>
        <pc:spChg chg="add del mod">
          <ac:chgData name="João Franco" userId="9fb93ff5c25ff7e7" providerId="LiveId" clId="{F408C2B5-16C5-48A6-842A-3923198F2B4A}" dt="2025-12-02T19:38:43.900" v="603" actId="478"/>
          <ac:spMkLst>
            <pc:docMk/>
            <pc:sldMk cId="0" sldId="263"/>
            <ac:spMk id="8" creationId="{A40619C2-1321-91FE-AECA-C3B45FA4CF2F}"/>
          </ac:spMkLst>
        </pc:spChg>
        <pc:spChg chg="del">
          <ac:chgData name="João Franco" userId="9fb93ff5c25ff7e7" providerId="LiveId" clId="{F408C2B5-16C5-48A6-842A-3923198F2B4A}" dt="2025-12-02T18:33:02.945" v="85" actId="478"/>
          <ac:spMkLst>
            <pc:docMk/>
            <pc:sldMk cId="0" sldId="263"/>
            <ac:spMk id="90" creationId="{00000000-0000-0000-0000-000000000000}"/>
          </ac:spMkLst>
        </pc:spChg>
        <pc:picChg chg="add mod">
          <ac:chgData name="João Franco" userId="9fb93ff5c25ff7e7" providerId="LiveId" clId="{F408C2B5-16C5-48A6-842A-3923198F2B4A}" dt="2025-12-02T18:47:57.100" v="377" actId="555"/>
          <ac:picMkLst>
            <pc:docMk/>
            <pc:sldMk cId="0" sldId="263"/>
            <ac:picMk id="3" creationId="{F05D28E6-1506-3C98-B921-2FCFEFBB9057}"/>
          </ac:picMkLst>
        </pc:picChg>
        <pc:picChg chg="add del mod">
          <ac:chgData name="João Franco" userId="9fb93ff5c25ff7e7" providerId="LiveId" clId="{F408C2B5-16C5-48A6-842A-3923198F2B4A}" dt="2025-12-02T18:47:53.565" v="373" actId="21"/>
          <ac:picMkLst>
            <pc:docMk/>
            <pc:sldMk cId="0" sldId="263"/>
            <ac:picMk id="6" creationId="{9F180D93-93CB-5F14-DBD1-87D5C9D2E5D0}"/>
          </ac:picMkLst>
        </pc:picChg>
        <pc:picChg chg="add del mod">
          <ac:chgData name="João Franco" userId="9fb93ff5c25ff7e7" providerId="LiveId" clId="{F408C2B5-16C5-48A6-842A-3923198F2B4A}" dt="2025-12-02T18:47:58.384" v="378" actId="478"/>
          <ac:picMkLst>
            <pc:docMk/>
            <pc:sldMk cId="0" sldId="263"/>
            <ac:picMk id="7" creationId="{9F180D93-93CB-5F14-DBD1-87D5C9D2E5D0}"/>
          </ac:picMkLst>
        </pc:picChg>
        <pc:picChg chg="del">
          <ac:chgData name="João Franco" userId="9fb93ff5c25ff7e7" providerId="LiveId" clId="{F408C2B5-16C5-48A6-842A-3923198F2B4A}" dt="2025-12-02T18:42:00.731" v="117" actId="478"/>
          <ac:picMkLst>
            <pc:docMk/>
            <pc:sldMk cId="0" sldId="263"/>
            <ac:picMk id="91" creationId="{00000000-0000-0000-0000-000000000000}"/>
          </ac:picMkLst>
        </pc:picChg>
      </pc:sldChg>
      <pc:sldChg chg="modSp mod">
        <pc:chgData name="João Franco" userId="9fb93ff5c25ff7e7" providerId="LiveId" clId="{F408C2B5-16C5-48A6-842A-3923198F2B4A}" dt="2025-12-02T18:30:18.381" v="68" actId="20577"/>
        <pc:sldMkLst>
          <pc:docMk/>
          <pc:sldMk cId="0" sldId="264"/>
        </pc:sldMkLst>
        <pc:spChg chg="mod">
          <ac:chgData name="João Franco" userId="9fb93ff5c25ff7e7" providerId="LiveId" clId="{F408C2B5-16C5-48A6-842A-3923198F2B4A}" dt="2025-12-02T18:30:18.381" v="68" actId="20577"/>
          <ac:spMkLst>
            <pc:docMk/>
            <pc:sldMk cId="0" sldId="264"/>
            <ac:spMk id="96" creationId="{00000000-0000-0000-0000-000000000000}"/>
          </ac:spMkLst>
        </pc:spChg>
      </pc:sldChg>
      <pc:sldChg chg="del">
        <pc:chgData name="João Franco" userId="9fb93ff5c25ff7e7" providerId="LiveId" clId="{F408C2B5-16C5-48A6-842A-3923198F2B4A}" dt="2025-12-02T18:49:14.056" v="394" actId="47"/>
        <pc:sldMkLst>
          <pc:docMk/>
          <pc:sldMk cId="0" sldId="266"/>
        </pc:sldMkLst>
      </pc:sldChg>
      <pc:sldChg chg="del">
        <pc:chgData name="João Franco" userId="9fb93ff5c25ff7e7" providerId="LiveId" clId="{F408C2B5-16C5-48A6-842A-3923198F2B4A}" dt="2025-12-02T18:49:12.651" v="392" actId="47"/>
        <pc:sldMkLst>
          <pc:docMk/>
          <pc:sldMk cId="0" sldId="267"/>
        </pc:sldMkLst>
      </pc:sldChg>
      <pc:sldChg chg="del ord">
        <pc:chgData name="João Franco" userId="9fb93ff5c25ff7e7" providerId="LiveId" clId="{F408C2B5-16C5-48A6-842A-3923198F2B4A}" dt="2025-12-02T18:49:11.371" v="391" actId="47"/>
        <pc:sldMkLst>
          <pc:docMk/>
          <pc:sldMk cId="0" sldId="268"/>
        </pc:sldMkLst>
      </pc:sldChg>
      <pc:sldChg chg="ord">
        <pc:chgData name="João Franco" userId="9fb93ff5c25ff7e7" providerId="LiveId" clId="{F408C2B5-16C5-48A6-842A-3923198F2B4A}" dt="2025-12-02T18:48:48.272" v="387"/>
        <pc:sldMkLst>
          <pc:docMk/>
          <pc:sldMk cId="0" sldId="270"/>
        </pc:sldMkLst>
      </pc:sldChg>
      <pc:sldChg chg="addSp delSp modSp mod">
        <pc:chgData name="João Franco" userId="9fb93ff5c25ff7e7" providerId="LiveId" clId="{F408C2B5-16C5-48A6-842A-3923198F2B4A}" dt="2025-12-02T19:26:52.716" v="537"/>
        <pc:sldMkLst>
          <pc:docMk/>
          <pc:sldMk cId="2134520226" sldId="272"/>
        </pc:sldMkLst>
        <pc:spChg chg="mod">
          <ac:chgData name="João Franco" userId="9fb93ff5c25ff7e7" providerId="LiveId" clId="{F408C2B5-16C5-48A6-842A-3923198F2B4A}" dt="2025-12-02T18:30:23.871" v="70"/>
          <ac:spMkLst>
            <pc:docMk/>
            <pc:sldMk cId="2134520226" sldId="272"/>
            <ac:spMk id="6" creationId="{098E1EEA-1CF8-4165-F703-D00836141FAE}"/>
          </ac:spMkLst>
        </pc:spChg>
        <pc:picChg chg="del mod">
          <ac:chgData name="João Franco" userId="9fb93ff5c25ff7e7" providerId="LiveId" clId="{F408C2B5-16C5-48A6-842A-3923198F2B4A}" dt="2025-12-02T19:26:52.433" v="536" actId="478"/>
          <ac:picMkLst>
            <pc:docMk/>
            <pc:sldMk cId="2134520226" sldId="272"/>
            <ac:picMk id="8" creationId="{00E511A6-355D-4708-6345-8494B5997FAC}"/>
          </ac:picMkLst>
        </pc:picChg>
        <pc:picChg chg="add del mod">
          <ac:chgData name="João Franco" userId="9fb93ff5c25ff7e7" providerId="LiveId" clId="{F408C2B5-16C5-48A6-842A-3923198F2B4A}" dt="2025-12-02T19:26:51.498" v="535" actId="21"/>
          <ac:picMkLst>
            <pc:docMk/>
            <pc:sldMk cId="2134520226" sldId="272"/>
            <ac:picMk id="11" creationId="{FC9BC2DD-F1C5-8BE6-5002-487F02B7AB71}"/>
          </ac:picMkLst>
        </pc:picChg>
        <pc:picChg chg="add mod">
          <ac:chgData name="João Franco" userId="9fb93ff5c25ff7e7" providerId="LiveId" clId="{F408C2B5-16C5-48A6-842A-3923198F2B4A}" dt="2025-12-02T19:26:52.716" v="537"/>
          <ac:picMkLst>
            <pc:docMk/>
            <pc:sldMk cId="2134520226" sldId="272"/>
            <ac:picMk id="12" creationId="{FC9BC2DD-F1C5-8BE6-5002-487F02B7AB71}"/>
          </ac:picMkLst>
        </pc:picChg>
      </pc:sldChg>
      <pc:sldChg chg="modSp del">
        <pc:chgData name="João Franco" userId="9fb93ff5c25ff7e7" providerId="LiveId" clId="{F408C2B5-16C5-48A6-842A-3923198F2B4A}" dt="2025-12-02T18:49:14.719" v="395" actId="47"/>
        <pc:sldMkLst>
          <pc:docMk/>
          <pc:sldMk cId="4067621351" sldId="273"/>
        </pc:sldMkLst>
        <pc:spChg chg="mod">
          <ac:chgData name="João Franco" userId="9fb93ff5c25ff7e7" providerId="LiveId" clId="{F408C2B5-16C5-48A6-842A-3923198F2B4A}" dt="2025-12-02T18:30:22.106" v="69"/>
          <ac:spMkLst>
            <pc:docMk/>
            <pc:sldMk cId="4067621351" sldId="273"/>
            <ac:spMk id="96" creationId="{BA7B9F69-9F2B-F823-B29E-BB0C1E4671A1}"/>
          </ac:spMkLst>
        </pc:spChg>
      </pc:sldChg>
      <pc:sldChg chg="modSp mod">
        <pc:chgData name="João Franco" userId="9fb93ff5c25ff7e7" providerId="LiveId" clId="{F408C2B5-16C5-48A6-842A-3923198F2B4A}" dt="2025-12-02T21:25:30.476" v="682" actId="1036"/>
        <pc:sldMkLst>
          <pc:docMk/>
          <pc:sldMk cId="3856555279" sldId="274"/>
        </pc:sldMkLst>
        <pc:spChg chg="mod">
          <ac:chgData name="João Franco" userId="9fb93ff5c25ff7e7" providerId="LiveId" clId="{F408C2B5-16C5-48A6-842A-3923198F2B4A}" dt="2025-12-02T21:25:25.462" v="669" actId="20577"/>
          <ac:spMkLst>
            <pc:docMk/>
            <pc:sldMk cId="3856555279" sldId="274"/>
            <ac:spMk id="3" creationId="{60C7FC28-3DA3-349D-F9D6-66A57A34DED4}"/>
          </ac:spMkLst>
        </pc:spChg>
        <pc:spChg chg="mod">
          <ac:chgData name="João Franco" userId="9fb93ff5c25ff7e7" providerId="LiveId" clId="{F408C2B5-16C5-48A6-842A-3923198F2B4A}" dt="2025-12-02T18:30:25.315" v="71"/>
          <ac:spMkLst>
            <pc:docMk/>
            <pc:sldMk cId="3856555279" sldId="274"/>
            <ac:spMk id="6" creationId="{9D816DDF-0184-5804-0561-C20A65F6CCCE}"/>
          </ac:spMkLst>
        </pc:spChg>
        <pc:picChg chg="mod">
          <ac:chgData name="João Franco" userId="9fb93ff5c25ff7e7" providerId="LiveId" clId="{F408C2B5-16C5-48A6-842A-3923198F2B4A}" dt="2025-12-02T21:25:30.476" v="682" actId="1036"/>
          <ac:picMkLst>
            <pc:docMk/>
            <pc:sldMk cId="3856555279" sldId="274"/>
            <ac:picMk id="9" creationId="{8B775F64-EB46-8F36-7B01-E0E189F35678}"/>
          </ac:picMkLst>
        </pc:picChg>
      </pc:sldChg>
      <pc:sldChg chg="addSp delSp modSp mod">
        <pc:chgData name="João Franco" userId="9fb93ff5c25ff7e7" providerId="LiveId" clId="{F408C2B5-16C5-48A6-842A-3923198F2B4A}" dt="2025-12-02T21:25:14.730" v="662" actId="20577"/>
        <pc:sldMkLst>
          <pc:docMk/>
          <pc:sldMk cId="3547678978" sldId="275"/>
        </pc:sldMkLst>
        <pc:spChg chg="mod">
          <ac:chgData name="João Franco" userId="9fb93ff5c25ff7e7" providerId="LiveId" clId="{F408C2B5-16C5-48A6-842A-3923198F2B4A}" dt="2025-12-02T18:30:27.465" v="72"/>
          <ac:spMkLst>
            <pc:docMk/>
            <pc:sldMk cId="3547678978" sldId="275"/>
            <ac:spMk id="6" creationId="{F0E0B7D7-450D-62D6-4ACD-AC6FCA3BD3F6}"/>
          </ac:spMkLst>
        </pc:spChg>
        <pc:spChg chg="mod">
          <ac:chgData name="João Franco" userId="9fb93ff5c25ff7e7" providerId="LiveId" clId="{F408C2B5-16C5-48A6-842A-3923198F2B4A}" dt="2025-12-02T21:25:14.303" v="660" actId="20577"/>
          <ac:spMkLst>
            <pc:docMk/>
            <pc:sldMk cId="3547678978" sldId="275"/>
            <ac:spMk id="28" creationId="{A180C587-1097-A12A-469E-5645884C80B4}"/>
          </ac:spMkLst>
        </pc:spChg>
        <pc:spChg chg="mod">
          <ac:chgData name="João Franco" userId="9fb93ff5c25ff7e7" providerId="LiveId" clId="{F408C2B5-16C5-48A6-842A-3923198F2B4A}" dt="2025-12-02T21:25:14.730" v="662" actId="20577"/>
          <ac:spMkLst>
            <pc:docMk/>
            <pc:sldMk cId="3547678978" sldId="275"/>
            <ac:spMk id="30" creationId="{7D7C0C6A-4DBD-676C-7F19-6CACABEA1C08}"/>
          </ac:spMkLst>
        </pc:spChg>
        <pc:spChg chg="mod">
          <ac:chgData name="João Franco" userId="9fb93ff5c25ff7e7" providerId="LiveId" clId="{F408C2B5-16C5-48A6-842A-3923198F2B4A}" dt="2025-12-02T21:24:43.192" v="637"/>
          <ac:spMkLst>
            <pc:docMk/>
            <pc:sldMk cId="3547678978" sldId="275"/>
            <ac:spMk id="48" creationId="{BAE37BD3-5D2E-1618-79E9-97EFB975CFA3}"/>
          </ac:spMkLst>
        </pc:spChg>
        <pc:spChg chg="mod">
          <ac:chgData name="João Franco" userId="9fb93ff5c25ff7e7" providerId="LiveId" clId="{F408C2B5-16C5-48A6-842A-3923198F2B4A}" dt="2025-12-02T21:24:58.692" v="646"/>
          <ac:spMkLst>
            <pc:docMk/>
            <pc:sldMk cId="3547678978" sldId="275"/>
            <ac:spMk id="51" creationId="{BAE37BD3-5D2E-1618-79E9-97EFB975CFA3}"/>
          </ac:spMkLst>
        </pc:spChg>
        <pc:grpChg chg="add del mod">
          <ac:chgData name="João Franco" userId="9fb93ff5c25ff7e7" providerId="LiveId" clId="{F408C2B5-16C5-48A6-842A-3923198F2B4A}" dt="2025-12-02T21:25:13.854" v="658" actId="164"/>
          <ac:grpSpMkLst>
            <pc:docMk/>
            <pc:sldMk cId="3547678978" sldId="275"/>
            <ac:grpSpMk id="44" creationId="{B6D920F7-5F7E-FC90-0CD6-7FDDA12035BD}"/>
          </ac:grpSpMkLst>
        </pc:grpChg>
        <pc:grpChg chg="add mod">
          <ac:chgData name="João Franco" userId="9fb93ff5c25ff7e7" providerId="LiveId" clId="{F408C2B5-16C5-48A6-842A-3923198F2B4A}" dt="2025-12-02T21:25:13.638" v="657" actId="164"/>
          <ac:grpSpMkLst>
            <pc:docMk/>
            <pc:sldMk cId="3547678978" sldId="275"/>
            <ac:grpSpMk id="45" creationId="{879916BD-0873-FF07-722F-507F3EB672CD}"/>
          </ac:grpSpMkLst>
        </pc:grpChg>
        <pc:grpChg chg="add del mod">
          <ac:chgData name="João Franco" userId="9fb93ff5c25ff7e7" providerId="LiveId" clId="{F408C2B5-16C5-48A6-842A-3923198F2B4A}" dt="2025-12-02T21:25:13.249" v="656" actId="552"/>
          <ac:grpSpMkLst>
            <pc:docMk/>
            <pc:sldMk cId="3547678978" sldId="275"/>
            <ac:grpSpMk id="46" creationId="{AA24AAC4-3BBB-2976-ADA4-23872AECEC5D}"/>
          </ac:grpSpMkLst>
        </pc:grpChg>
        <pc:grpChg chg="add mod">
          <ac:chgData name="João Franco" userId="9fb93ff5c25ff7e7" providerId="LiveId" clId="{F408C2B5-16C5-48A6-842A-3923198F2B4A}" dt="2025-12-02T21:24:58.692" v="646"/>
          <ac:grpSpMkLst>
            <pc:docMk/>
            <pc:sldMk cId="3547678978" sldId="275"/>
            <ac:grpSpMk id="49" creationId="{AA24AAC4-3BBB-2976-ADA4-23872AECEC5D}"/>
          </ac:grpSpMkLst>
        </pc:grpChg>
        <pc:picChg chg="del mod">
          <ac:chgData name="João Franco" userId="9fb93ff5c25ff7e7" providerId="LiveId" clId="{F408C2B5-16C5-48A6-842A-3923198F2B4A}" dt="2025-12-02T19:27:59.388" v="560" actId="478"/>
          <ac:picMkLst>
            <pc:docMk/>
            <pc:sldMk cId="3547678978" sldId="275"/>
            <ac:picMk id="20" creationId="{D725E588-EB46-5079-40F6-F5E25E3D4069}"/>
          </ac:picMkLst>
        </pc:picChg>
        <pc:picChg chg="del mod">
          <ac:chgData name="João Franco" userId="9fb93ff5c25ff7e7" providerId="LiveId" clId="{F408C2B5-16C5-48A6-842A-3923198F2B4A}" dt="2025-12-02T19:27:22.525" v="546" actId="478"/>
          <ac:picMkLst>
            <pc:docMk/>
            <pc:sldMk cId="3547678978" sldId="275"/>
            <ac:picMk id="23" creationId="{90600E25-6F68-015F-4786-D16D90F9B9CE}"/>
          </ac:picMkLst>
        </pc:picChg>
        <pc:picChg chg="del mod ord">
          <ac:chgData name="João Franco" userId="9fb93ff5c25ff7e7" providerId="LiveId" clId="{F408C2B5-16C5-48A6-842A-3923198F2B4A}" dt="2025-12-02T19:27:41.902" v="553" actId="478"/>
          <ac:picMkLst>
            <pc:docMk/>
            <pc:sldMk cId="3547678978" sldId="275"/>
            <ac:picMk id="26" creationId="{5DD67315-1EA1-87BB-92DC-44D69D9EF5DF}"/>
          </ac:picMkLst>
        </pc:picChg>
        <pc:picChg chg="add del mod">
          <ac:chgData name="João Franco" userId="9fb93ff5c25ff7e7" providerId="LiveId" clId="{F408C2B5-16C5-48A6-842A-3923198F2B4A}" dt="2025-12-02T19:27:58.573" v="559" actId="21"/>
          <ac:picMkLst>
            <pc:docMk/>
            <pc:sldMk cId="3547678978" sldId="275"/>
            <ac:picMk id="36" creationId="{25AB4997-2D71-3E69-729D-029B044430FF}"/>
          </ac:picMkLst>
        </pc:picChg>
        <pc:picChg chg="add del mod">
          <ac:chgData name="João Franco" userId="9fb93ff5c25ff7e7" providerId="LiveId" clId="{F408C2B5-16C5-48A6-842A-3923198F2B4A}" dt="2025-12-02T19:27:21.658" v="545" actId="21"/>
          <ac:picMkLst>
            <pc:docMk/>
            <pc:sldMk cId="3547678978" sldId="275"/>
            <ac:picMk id="38" creationId="{57F6D17A-78BC-1F90-BC38-C4749FA47741}"/>
          </ac:picMkLst>
        </pc:picChg>
        <pc:picChg chg="add del mod">
          <ac:chgData name="João Franco" userId="9fb93ff5c25ff7e7" providerId="LiveId" clId="{F408C2B5-16C5-48A6-842A-3923198F2B4A}" dt="2025-12-02T19:27:41.076" v="552" actId="21"/>
          <ac:picMkLst>
            <pc:docMk/>
            <pc:sldMk cId="3547678978" sldId="275"/>
            <ac:picMk id="40" creationId="{64E29094-6B27-B13C-56DA-5EFDE36C9CF1}"/>
          </ac:picMkLst>
        </pc:picChg>
        <pc:picChg chg="add mod ord">
          <ac:chgData name="João Franco" userId="9fb93ff5c25ff7e7" providerId="LiveId" clId="{F408C2B5-16C5-48A6-842A-3923198F2B4A}" dt="2025-12-02T21:25:13.854" v="658" actId="164"/>
          <ac:picMkLst>
            <pc:docMk/>
            <pc:sldMk cId="3547678978" sldId="275"/>
            <ac:picMk id="41" creationId="{57F6D17A-78BC-1F90-BC38-C4749FA47741}"/>
          </ac:picMkLst>
        </pc:picChg>
        <pc:picChg chg="add mod ord">
          <ac:chgData name="João Franco" userId="9fb93ff5c25ff7e7" providerId="LiveId" clId="{F408C2B5-16C5-48A6-842A-3923198F2B4A}" dt="2025-12-02T21:25:13.638" v="657" actId="164"/>
          <ac:picMkLst>
            <pc:docMk/>
            <pc:sldMk cId="3547678978" sldId="275"/>
            <ac:picMk id="42" creationId="{64E29094-6B27-B13C-56DA-5EFDE36C9CF1}"/>
          </ac:picMkLst>
        </pc:picChg>
        <pc:picChg chg="add mod ord">
          <ac:chgData name="João Franco" userId="9fb93ff5c25ff7e7" providerId="LiveId" clId="{F408C2B5-16C5-48A6-842A-3923198F2B4A}" dt="2025-12-02T21:25:11.586" v="648" actId="554"/>
          <ac:picMkLst>
            <pc:docMk/>
            <pc:sldMk cId="3547678978" sldId="275"/>
            <ac:picMk id="43" creationId="{25AB4997-2D71-3E69-729D-029B044430FF}"/>
          </ac:picMkLst>
        </pc:picChg>
        <pc:picChg chg="mod">
          <ac:chgData name="João Franco" userId="9fb93ff5c25ff7e7" providerId="LiveId" clId="{F408C2B5-16C5-48A6-842A-3923198F2B4A}" dt="2025-12-02T21:24:43.192" v="637"/>
          <ac:picMkLst>
            <pc:docMk/>
            <pc:sldMk cId="3547678978" sldId="275"/>
            <ac:picMk id="47" creationId="{CFE069F2-8D1F-BE77-B25E-810EE93569A4}"/>
          </ac:picMkLst>
        </pc:picChg>
        <pc:picChg chg="mod">
          <ac:chgData name="João Franco" userId="9fb93ff5c25ff7e7" providerId="LiveId" clId="{F408C2B5-16C5-48A6-842A-3923198F2B4A}" dt="2025-12-02T21:24:58.692" v="646"/>
          <ac:picMkLst>
            <pc:docMk/>
            <pc:sldMk cId="3547678978" sldId="275"/>
            <ac:picMk id="50" creationId="{CFE069F2-8D1F-BE77-B25E-810EE93569A4}"/>
          </ac:picMkLst>
        </pc:picChg>
      </pc:sldChg>
      <pc:sldChg chg="modSp del">
        <pc:chgData name="João Franco" userId="9fb93ff5c25ff7e7" providerId="LiveId" clId="{F408C2B5-16C5-48A6-842A-3923198F2B4A}" dt="2025-12-02T18:49:13.426" v="393" actId="47"/>
        <pc:sldMkLst>
          <pc:docMk/>
          <pc:sldMk cId="4184878102" sldId="276"/>
        </pc:sldMkLst>
        <pc:spChg chg="mod">
          <ac:chgData name="João Franco" userId="9fb93ff5c25ff7e7" providerId="LiveId" clId="{F408C2B5-16C5-48A6-842A-3923198F2B4A}" dt="2025-12-02T18:30:29.095" v="73"/>
          <ac:spMkLst>
            <pc:docMk/>
            <pc:sldMk cId="4184878102" sldId="276"/>
            <ac:spMk id="8" creationId="{14017AC1-1D06-7F44-4F70-A6ABC9B2B610}"/>
          </ac:spMkLst>
        </pc:spChg>
      </pc:sldChg>
      <pc:sldChg chg="addSp delSp modSp mod">
        <pc:chgData name="João Franco" userId="9fb93ff5c25ff7e7" providerId="LiveId" clId="{F408C2B5-16C5-48A6-842A-3923198F2B4A}" dt="2025-12-02T19:31:14.363" v="586" actId="1036"/>
        <pc:sldMkLst>
          <pc:docMk/>
          <pc:sldMk cId="3167097256" sldId="277"/>
        </pc:sldMkLst>
        <pc:spChg chg="mod">
          <ac:chgData name="João Franco" userId="9fb93ff5c25ff7e7" providerId="LiveId" clId="{F408C2B5-16C5-48A6-842A-3923198F2B4A}" dt="2025-12-02T18:30:30.802" v="74"/>
          <ac:spMkLst>
            <pc:docMk/>
            <pc:sldMk cId="3167097256" sldId="277"/>
            <ac:spMk id="8" creationId="{EC44844B-454B-5480-ACF2-0330F8054BCF}"/>
          </ac:spMkLst>
        </pc:spChg>
        <pc:picChg chg="del mod">
          <ac:chgData name="João Franco" userId="9fb93ff5c25ff7e7" providerId="LiveId" clId="{F408C2B5-16C5-48A6-842A-3923198F2B4A}" dt="2025-12-02T19:28:32.426" v="578" actId="478"/>
          <ac:picMkLst>
            <pc:docMk/>
            <pc:sldMk cId="3167097256" sldId="277"/>
            <ac:picMk id="6" creationId="{370D8322-537E-ABD3-4389-C02CFA3BB2C8}"/>
          </ac:picMkLst>
        </pc:picChg>
        <pc:picChg chg="add del mod">
          <ac:chgData name="João Franco" userId="9fb93ff5c25ff7e7" providerId="LiveId" clId="{F408C2B5-16C5-48A6-842A-3923198F2B4A}" dt="2025-12-02T19:28:17" v="571" actId="21"/>
          <ac:picMkLst>
            <pc:docMk/>
            <pc:sldMk cId="3167097256" sldId="277"/>
            <ac:picMk id="15" creationId="{9A03BEE6-B985-D720-32A5-C10AC67E9619}"/>
          </ac:picMkLst>
        </pc:picChg>
        <pc:picChg chg="add del mod">
          <ac:chgData name="João Franco" userId="9fb93ff5c25ff7e7" providerId="LiveId" clId="{F408C2B5-16C5-48A6-842A-3923198F2B4A}" dt="2025-12-02T19:28:31.650" v="577" actId="21"/>
          <ac:picMkLst>
            <pc:docMk/>
            <pc:sldMk cId="3167097256" sldId="277"/>
            <ac:picMk id="16" creationId="{9A03BEE6-B985-D720-32A5-C10AC67E9619}"/>
          </ac:picMkLst>
        </pc:picChg>
        <pc:picChg chg="add mod ord">
          <ac:chgData name="João Franco" userId="9fb93ff5c25ff7e7" providerId="LiveId" clId="{F408C2B5-16C5-48A6-842A-3923198F2B4A}" dt="2025-12-02T19:31:14.363" v="586" actId="1036"/>
          <ac:picMkLst>
            <pc:docMk/>
            <pc:sldMk cId="3167097256" sldId="277"/>
            <ac:picMk id="17" creationId="{9A03BEE6-B985-D720-32A5-C10AC67E9619}"/>
          </ac:picMkLst>
        </pc:picChg>
      </pc:sldChg>
      <pc:sldChg chg="addSp delSp modSp add mod ord modNotes">
        <pc:chgData name="João Franco" userId="9fb93ff5c25ff7e7" providerId="LiveId" clId="{F408C2B5-16C5-48A6-842A-3923198F2B4A}" dt="2025-12-02T18:49:59.743" v="428" actId="20577"/>
        <pc:sldMkLst>
          <pc:docMk/>
          <pc:sldMk cId="0" sldId="279"/>
        </pc:sldMkLst>
        <pc:spChg chg="add mod">
          <ac:chgData name="João Franco" userId="9fb93ff5c25ff7e7" providerId="LiveId" clId="{F408C2B5-16C5-48A6-842A-3923198F2B4A}" dt="2025-12-02T18:49:57.147" v="420" actId="478"/>
          <ac:spMkLst>
            <pc:docMk/>
            <pc:sldMk cId="0" sldId="279"/>
            <ac:spMk id="3" creationId="{510909C2-E628-805B-D5F6-0BA563773FE8}"/>
          </ac:spMkLst>
        </pc:spChg>
        <pc:spChg chg="add mod">
          <ac:chgData name="João Franco" userId="9fb93ff5c25ff7e7" providerId="LiveId" clId="{F408C2B5-16C5-48A6-842A-3923198F2B4A}" dt="2025-12-02T18:49:59.743" v="428" actId="20577"/>
          <ac:spMkLst>
            <pc:docMk/>
            <pc:sldMk cId="0" sldId="279"/>
            <ac:spMk id="4" creationId="{58CE248E-F196-5CB8-CF3E-D748E546CD9C}"/>
          </ac:spMkLst>
        </pc:spChg>
        <pc:spChg chg="mod">
          <ac:chgData name="João Franco" userId="9fb93ff5c25ff7e7" providerId="LiveId" clId="{F408C2B5-16C5-48A6-842A-3923198F2B4A}" dt="2025-12-02T18:31:55.324" v="79"/>
          <ac:spMkLst>
            <pc:docMk/>
            <pc:sldMk cId="0" sldId="279"/>
            <ac:spMk id="40" creationId="{00000000-0000-0000-0000-000000000000}"/>
          </ac:spMkLst>
        </pc:spChg>
        <pc:spChg chg="del">
          <ac:chgData name="João Franco" userId="9fb93ff5c25ff7e7" providerId="LiveId" clId="{F408C2B5-16C5-48A6-842A-3923198F2B4A}" dt="2025-12-02T18:49:57.147" v="420" actId="478"/>
          <ac:spMkLst>
            <pc:docMk/>
            <pc:sldMk cId="0" sldId="279"/>
            <ac:spMk id="41" creationId="{00000000-0000-0000-0000-000000000000}"/>
          </ac:spMkLst>
        </pc:spChg>
        <pc:spChg chg="del">
          <ac:chgData name="João Franco" userId="9fb93ff5c25ff7e7" providerId="LiveId" clId="{F408C2B5-16C5-48A6-842A-3923198F2B4A}" dt="2025-12-02T18:32:00.511" v="80" actId="478"/>
          <ac:spMkLst>
            <pc:docMk/>
            <pc:sldMk cId="0" sldId="279"/>
            <ac:spMk id="42" creationId="{00000000-0000-0000-0000-000000000000}"/>
          </ac:spMkLst>
        </pc:spChg>
      </pc:sldChg>
      <pc:sldChg chg="add">
        <pc:chgData name="João Franco" userId="9fb93ff5c25ff7e7" providerId="LiveId" clId="{F408C2B5-16C5-48A6-842A-3923198F2B4A}" dt="2025-12-02T18:49:02.969" v="390"/>
        <pc:sldMkLst>
          <pc:docMk/>
          <pc:sldMk cId="2682391943" sldId="280"/>
        </pc:sldMkLst>
      </pc:sldChg>
      <pc:sldChg chg="add">
        <pc:chgData name="João Franco" userId="9fb93ff5c25ff7e7" providerId="LiveId" clId="{F408C2B5-16C5-48A6-842A-3923198F2B4A}" dt="2025-12-02T18:49:02.969" v="390"/>
        <pc:sldMkLst>
          <pc:docMk/>
          <pc:sldMk cId="1341254601" sldId="281"/>
        </pc:sldMkLst>
      </pc:sldChg>
      <pc:sldChg chg="add">
        <pc:chgData name="João Franco" userId="9fb93ff5c25ff7e7" providerId="LiveId" clId="{F408C2B5-16C5-48A6-842A-3923198F2B4A}" dt="2025-12-02T18:49:02.969" v="390"/>
        <pc:sldMkLst>
          <pc:docMk/>
          <pc:sldMk cId="2328434072" sldId="282"/>
        </pc:sldMkLst>
      </pc:sldChg>
      <pc:sldChg chg="add">
        <pc:chgData name="João Franco" userId="9fb93ff5c25ff7e7" providerId="LiveId" clId="{F408C2B5-16C5-48A6-842A-3923198F2B4A}" dt="2025-12-02T18:49:02.969" v="390"/>
        <pc:sldMkLst>
          <pc:docMk/>
          <pc:sldMk cId="2770767564" sldId="283"/>
        </pc:sldMkLst>
      </pc:sldChg>
      <pc:sldChg chg="add">
        <pc:chgData name="João Franco" userId="9fb93ff5c25ff7e7" providerId="LiveId" clId="{F408C2B5-16C5-48A6-842A-3923198F2B4A}" dt="2025-12-02T18:49:02.969" v="390"/>
        <pc:sldMkLst>
          <pc:docMk/>
          <pc:sldMk cId="3284395869" sldId="284"/>
        </pc:sldMkLst>
      </pc:sldChg>
      <pc:sldChg chg="add">
        <pc:chgData name="João Franco" userId="9fb93ff5c25ff7e7" providerId="LiveId" clId="{F408C2B5-16C5-48A6-842A-3923198F2B4A}" dt="2025-12-02T18:49:02.969" v="390"/>
        <pc:sldMkLst>
          <pc:docMk/>
          <pc:sldMk cId="1510988696" sldId="285"/>
        </pc:sldMkLst>
      </pc:sldChg>
      <pc:sldChg chg="add">
        <pc:chgData name="João Franco" userId="9fb93ff5c25ff7e7" providerId="LiveId" clId="{F408C2B5-16C5-48A6-842A-3923198F2B4A}" dt="2025-12-02T18:49:02.969" v="390"/>
        <pc:sldMkLst>
          <pc:docMk/>
          <pc:sldMk cId="1613239189" sldId="286"/>
        </pc:sldMkLst>
      </pc:sldChg>
      <pc:sldMasterChg chg="modSldLayout">
        <pc:chgData name="João Franco" userId="9fb93ff5c25ff7e7" providerId="LiveId" clId="{F408C2B5-16C5-48A6-842A-3923198F2B4A}" dt="2025-12-02T18:50:55.820" v="438" actId="20577"/>
        <pc:sldMasterMkLst>
          <pc:docMk/>
          <pc:sldMasterMk cId="0" sldId="2147483648"/>
        </pc:sldMasterMkLst>
        <pc:sldLayoutChg chg="modSp mod">
          <pc:chgData name="João Franco" userId="9fb93ff5c25ff7e7" providerId="LiveId" clId="{F408C2B5-16C5-48A6-842A-3923198F2B4A}" dt="2025-12-02T18:50:55.820" v="438" actId="20577"/>
          <pc:sldLayoutMkLst>
            <pc:docMk/>
            <pc:sldMasterMk cId="0" sldId="2147483648"/>
            <pc:sldLayoutMk cId="0" sldId="2147483650"/>
          </pc:sldLayoutMkLst>
          <pc:spChg chg="mod">
            <ac:chgData name="João Franco" userId="9fb93ff5c25ff7e7" providerId="LiveId" clId="{F408C2B5-16C5-48A6-842A-3923198F2B4A}" dt="2025-12-02T18:50:55.820" v="438" actId="20577"/>
            <ac:spMkLst>
              <pc:docMk/>
              <pc:sldMasterMk cId="0" sldId="2147483648"/>
              <pc:sldLayoutMk cId="0" sldId="2147483650"/>
              <ac:spMk id="22"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Hello everyone, today João and I will present our project, titled FRY9C Reports, Banking, and Crashes, can 2008 predict 2020?</a:t>
            </a:r>
            <a:endParaRPr/>
          </a:p>
        </p:txBody>
      </p:sp>
      <p:sp>
        <p:nvSpPr>
          <p:cNvPr id="37" name="Google Shape;3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g3aa2725fc43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First, we’ll explain the questions that guided our project, then give a brief introduction to the data source we used to answer them. In our methods section we’ll explain the challenges the data presented to us and how we managed to wrangle it into something useable. Next, we’ll show our results in two sections. First, a descriptive account of both the 2008 crash and the 2020 pandemic, were we even able to find the crash in the balance sheets. Then, we’ll show the results of our predictive analysis, did the Y9C data allow us to predict bank performance. Finally, we’ll present our conclusions, the limitations of our work, and next steps to explore.</a:t>
            </a:r>
            <a:endParaRPr/>
          </a:p>
        </p:txBody>
      </p:sp>
      <p:sp>
        <p:nvSpPr>
          <p:cNvPr id="38" name="Google Shape;38;g3aa2725fc43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g3aba591d317_1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So, what are we trying to do here? First, we wanted to know if indicators of the 2008 crash were present in the quarterly Y9C reports that holding companies file with the federal reserve. In other words, can your bank’s 2007 balance sheet tell us know well your bank will do in 2008 and 2009? If the answer to the last question is yes, will the predictive model hold for the COVID pandemic in 2020?</a:t>
            </a:r>
            <a:endParaRPr/>
          </a:p>
        </p:txBody>
      </p:sp>
      <p:sp>
        <p:nvSpPr>
          <p:cNvPr id="51" name="Google Shape;51;g3aba591d317_1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ba591d317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Now, before we answer those questions, we have to a brief, hopefully, overview of the Y9C report. Fundamentally, the Y9C report is two things, an income statement and a balance sheet. The income statement is cumulative over the financial year, earnings will go up and up until the the end of Q4 when everything resets. The balance sheet reflects the assets and liabilities held by the filing financial institution and isn’t cumulative, it’s a quarterly snapshot into the company. This is a massive oversimplification but it will have to do. Now, João is going to explain the choices we made while preparing the data.</a:t>
            </a:r>
            <a:endParaRPr/>
          </a:p>
        </p:txBody>
      </p:sp>
      <p:sp>
        <p:nvSpPr>
          <p:cNvPr id="58" name="Google Shape;58;g3aba591d317_1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abb392cea2_0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Initially we started with about 60 files with ~2000 columns. All the columns were represented by 4 letter 4 digit codes as you can see. First, we used the Federal Reserve’s data dictionary to give the columns readable names. We then decided to drop columns from the YLP and YSP part of the report and focus only on the Y9C columns. The LP and SP refer to large and small parent companies respectively, each with their own requirements and filing schedule. Some companies will file just a 9C, others a 9C and LP, sometimes with the same values and sometimes with others. Some companies will file LP or SP one year but not another. For all these reasons we decided to use the more consistent 9C report only. After all that, and a whole lot of googling, we decided on the columns we would use.</a:t>
            </a:r>
            <a:endParaRPr/>
          </a:p>
        </p:txBody>
      </p:sp>
      <p:sp>
        <p:nvSpPr>
          <p:cNvPr id="72" name="Google Shape;72;g3abb392cea2_0_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aba591d317_1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Now, let’s get into the results. First, the light red band on the graph marks the official start and end of the great recession. The top graph shows real estate chargeoffs, These are loans that the bank are writing off as loses. They aren’t necessarily in default but its the next closest thing. The bottom graph is net income, or profit. We broke up the banks by top 50% and bottom 50% based on total assets to see if there was a major difference between them. As you can see profit took a nosedive during the gret recession but chargeoffs peaked even later and didn’t return to baseline until 2012. It’s also worth noting that because our data is quarterly, it’s likely masking the true extent of losses due to government bailouts done to prop up failing banks. Now, let’s take a look at 2020.</a:t>
            </a:r>
            <a:endParaRPr/>
          </a:p>
        </p:txBody>
      </p:sp>
      <p:sp>
        <p:nvSpPr>
          <p:cNvPr id="78" name="Google Shape;78;g3aba591d317_1_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ba591d317_1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I’ve kept the scale the same for real estate chargeoffs so you can see how big the difference is. The scale for net income is different, largely due to how much more profitable banks are in later reports. I think this is due to changes in reporting criteria but that’s a separate story. Put simply, the banks were taking massive losses on real estate loans in 2008 and onward, not so in 2020. Is that enough to ruin our prediction?</a:t>
            </a:r>
            <a:endParaRPr/>
          </a:p>
        </p:txBody>
      </p:sp>
      <p:sp>
        <p:nvSpPr>
          <p:cNvPr id="86" name="Google Shape;86;g3aba591d317_1_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ac719d7d2a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ac719d7d2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General Income statement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Revenue, Net Income, Earnings before Tax</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Balance sheet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Assets, Total Equity, Assets per class (cash, securities)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Loans specific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Charged Offs per class (e.g.: to real estate), (Loan) Recoveries per class (e.g.: to farmers), Loans Loss Provisions)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Reported resilience ratios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Tier 1 Capital Ratio</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588645" lvl="1" indent="0">
              <a:spcBef>
                <a:spcPts val="0"/>
              </a:spcBef>
              <a:buSzPct val="75000"/>
              <a:buNone/>
            </a:pPr>
            <a:r>
              <a:rPr lang="en-US" dirty="0">
                <a:latin typeface="Merriweather" panose="00000500000000000000" pitchFamily="2" charset="0"/>
              </a:rPr>
              <a:t>Trial 1: Financial data from prev. quarter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2: Financial data from prev. quarter + financial growth (2, 4, 6, 8 quarters before “prev. quarter”)</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3: Financial data in 6 quarters before crisis + financial growth (2, 4, 6, 8 quarters before “6 quarters before the crisis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4: Financial data in 6 quarters before crisis</a:t>
            </a:r>
          </a:p>
          <a:p>
            <a:endParaRPr lang="en-US" dirty="0"/>
          </a:p>
        </p:txBody>
      </p:sp>
    </p:spTree>
    <p:extLst>
      <p:ext uri="{BB962C8B-B14F-4D97-AF65-F5344CB8AC3E}">
        <p14:creationId xmlns:p14="http://schemas.microsoft.com/office/powerpoint/2010/main" val="1259919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588645" lvl="1" indent="0">
              <a:spcBef>
                <a:spcPts val="0"/>
              </a:spcBef>
              <a:buSzPct val="75000"/>
              <a:buNone/>
            </a:pPr>
            <a:r>
              <a:rPr lang="en-US" dirty="0">
                <a:latin typeface="Merriweather" panose="00000500000000000000" pitchFamily="2" charset="0"/>
              </a:rPr>
              <a:t>Trial 1: Financial data from prev. quarter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2: Financial data from prev. quarter + financial growth (2, 4, 6, 8 quarters before “prev. quarter”)</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3: Financial data in 6 quarters before crisis + financial growth (2, 4, 6, 8 quarters before “6 quarters before the crisis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4: Financial data in 6 quarters before crisis</a:t>
            </a:r>
          </a:p>
          <a:p>
            <a:endParaRPr lang="en-US" dirty="0"/>
          </a:p>
          <a:p>
            <a:endParaRPr lang="en-US" dirty="0"/>
          </a:p>
        </p:txBody>
      </p:sp>
    </p:spTree>
    <p:extLst>
      <p:ext uri="{BB962C8B-B14F-4D97-AF65-F5344CB8AC3E}">
        <p14:creationId xmlns:p14="http://schemas.microsoft.com/office/powerpoint/2010/main" val="3408518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aba591d317_1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g3aba591d317_1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c8933d992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g3ac8933d992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3aba591d317_1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3aba591d317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5668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3aa2725fc43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We don’t have a ton of time so we’ll be moving a bit quick. First, we’ll explain our research questions, then give a brief background on the data source we used to answer them. We’ll explain the challenges the data presented to us and how we managed to wrangle it into something useable. We’ll show our results in two sections, first for the 2008 period and second for the 2020 period. Finally, we’ll present our conclusions, the limitations of our work, and next steps to explore.</a:t>
            </a:r>
            <a:endParaRPr/>
          </a:p>
        </p:txBody>
      </p:sp>
      <p:sp>
        <p:nvSpPr>
          <p:cNvPr id="44" name="Google Shape;44;g3aa2725fc43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60606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6228480-A5A9-390C-714C-CDA067EE8417}"/>
            </a:ext>
          </a:extLst>
        </p:cNvPr>
        <p:cNvGrpSpPr/>
        <p:nvPr/>
      </p:nvGrpSpPr>
      <p:grpSpPr>
        <a:xfrm>
          <a:off x="0" y="0"/>
          <a:ext cx="0" cy="0"/>
          <a:chOff x="0" y="0"/>
          <a:chExt cx="0" cy="0"/>
        </a:xfrm>
      </p:grpSpPr>
      <p:sp>
        <p:nvSpPr>
          <p:cNvPr id="93" name="Google Shape;93;g3ac719d7d2a_0_4:notes">
            <a:extLst>
              <a:ext uri="{FF2B5EF4-FFF2-40B4-BE49-F238E27FC236}">
                <a16:creationId xmlns:a16="http://schemas.microsoft.com/office/drawing/2014/main" id="{BC7E2F18-AE76-6CE2-2F6E-2707C49B8BE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ac719d7d2a_0_4:notes">
            <a:extLst>
              <a:ext uri="{FF2B5EF4-FFF2-40B4-BE49-F238E27FC236}">
                <a16:creationId xmlns:a16="http://schemas.microsoft.com/office/drawing/2014/main" id="{2BF11E02-31D8-96BE-B086-F3BF178074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General Income statement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Revenue, Net Income, Earnings before Tax</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Balance sheet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Total Assets, Total Equity, Assets per class (cash, securities)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Loans specific metrics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Charged Offs per class (e.g.: to real estate), (Loan) Recoveries per class (e.g.: to farmers), Loans Loss Provisions)</a:t>
            </a:r>
          </a:p>
          <a:p>
            <a:pPr marL="588645" indent="-457200">
              <a:lnSpc>
                <a:spcPct val="145000"/>
              </a:lnSpc>
              <a:buSzPct val="64285"/>
              <a:buFont typeface="Arial" panose="020B0604020202020204" pitchFamily="34" charset="0"/>
              <a:buChar char="•"/>
            </a:pPr>
            <a:r>
              <a:rPr lang="en-US" sz="1100" u="sng" dirty="0">
                <a:latin typeface="Merriweather" panose="00000500000000000000" pitchFamily="2" charset="0"/>
              </a:rPr>
              <a:t>Reported resilience ratios</a:t>
            </a:r>
            <a:r>
              <a:rPr lang="en-US" sz="1100" dirty="0">
                <a:latin typeface="Merriweather" panose="00000500000000000000" pitchFamily="2" charset="0"/>
              </a:rPr>
              <a:t>, such as:</a:t>
            </a:r>
            <a:br>
              <a:rPr lang="en-US" sz="1100" dirty="0">
                <a:latin typeface="Merriweather" panose="00000500000000000000" pitchFamily="2" charset="0"/>
              </a:rPr>
            </a:br>
            <a:r>
              <a:rPr lang="en-US" sz="1100" dirty="0">
                <a:latin typeface="Merriweather" panose="00000500000000000000" pitchFamily="2" charset="0"/>
              </a:rPr>
              <a:t>	 Tier 1 Capital Ratio</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715438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abb392cea2_0_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abb392cea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3106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bb392cea2_0_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abb392cea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4528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abb392cea2_0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abb392cea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4518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pic>
        <p:nvPicPr>
          <p:cNvPr id="15" name="Google Shape;15;p16"/>
          <p:cNvPicPr preferRelativeResize="0"/>
          <p:nvPr/>
        </p:nvPicPr>
        <p:blipFill rotWithShape="1">
          <a:blip r:embed="rId2">
            <a:alphaModFix/>
          </a:blip>
          <a:srcRect l="24969"/>
          <a:stretch/>
        </p:blipFill>
        <p:spPr>
          <a:xfrm>
            <a:off x="1" y="0"/>
            <a:ext cx="9143998" cy="6857999"/>
          </a:xfrm>
          <a:prstGeom prst="rect">
            <a:avLst/>
          </a:prstGeom>
          <a:noFill/>
          <a:ln>
            <a:noFill/>
          </a:ln>
        </p:spPr>
      </p:pic>
      <p:sp>
        <p:nvSpPr>
          <p:cNvPr id="16" name="Google Shape;16;p16"/>
          <p:cNvSpPr txBox="1">
            <a:spLocks noGrp="1"/>
          </p:cNvSpPr>
          <p:nvPr>
            <p:ph type="ctrTitle"/>
          </p:nvPr>
        </p:nvSpPr>
        <p:spPr>
          <a:xfrm>
            <a:off x="628650" y="1122363"/>
            <a:ext cx="7886700" cy="19104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400"/>
              <a:buFont typeface="Calibri"/>
              <a:buNone/>
              <a:defRPr sz="6400">
                <a:solidFill>
                  <a:schemeClr val="lt1"/>
                </a:solidFill>
                <a:latin typeface="Calibri"/>
                <a:ea typeface="Calibri"/>
                <a:cs typeface="Calibri"/>
                <a:sym typeface="Calibri"/>
              </a:defRPr>
            </a:lvl1pPr>
            <a:lvl2pPr lvl="1" algn="l">
              <a:lnSpc>
                <a:spcPct val="100000"/>
              </a:lnSpc>
              <a:spcBef>
                <a:spcPts val="0"/>
              </a:spcBef>
              <a:spcAft>
                <a:spcPts val="0"/>
              </a:spcAft>
              <a:buSzPts val="1700"/>
              <a:buFont typeface="Calibri"/>
              <a:buNone/>
              <a:defRPr sz="2100">
                <a:latin typeface="Calibri"/>
                <a:ea typeface="Calibri"/>
                <a:cs typeface="Calibri"/>
                <a:sym typeface="Calibri"/>
              </a:defRPr>
            </a:lvl2pPr>
            <a:lvl3pPr lvl="2" algn="l">
              <a:lnSpc>
                <a:spcPct val="100000"/>
              </a:lnSpc>
              <a:spcBef>
                <a:spcPts val="0"/>
              </a:spcBef>
              <a:spcAft>
                <a:spcPts val="0"/>
              </a:spcAft>
              <a:buSzPts val="1700"/>
              <a:buFont typeface="Calibri"/>
              <a:buNone/>
              <a:defRPr sz="2100">
                <a:latin typeface="Calibri"/>
                <a:ea typeface="Calibri"/>
                <a:cs typeface="Calibri"/>
                <a:sym typeface="Calibri"/>
              </a:defRPr>
            </a:lvl3pPr>
            <a:lvl4pPr lvl="3" algn="l">
              <a:lnSpc>
                <a:spcPct val="100000"/>
              </a:lnSpc>
              <a:spcBef>
                <a:spcPts val="0"/>
              </a:spcBef>
              <a:spcAft>
                <a:spcPts val="0"/>
              </a:spcAft>
              <a:buSzPts val="1700"/>
              <a:buFont typeface="Calibri"/>
              <a:buNone/>
              <a:defRPr sz="2100">
                <a:latin typeface="Calibri"/>
                <a:ea typeface="Calibri"/>
                <a:cs typeface="Calibri"/>
                <a:sym typeface="Calibri"/>
              </a:defRPr>
            </a:lvl4pPr>
            <a:lvl5pPr lvl="4" algn="l">
              <a:lnSpc>
                <a:spcPct val="100000"/>
              </a:lnSpc>
              <a:spcBef>
                <a:spcPts val="0"/>
              </a:spcBef>
              <a:spcAft>
                <a:spcPts val="0"/>
              </a:spcAft>
              <a:buSzPts val="1700"/>
              <a:buFont typeface="Calibri"/>
              <a:buNone/>
              <a:defRPr sz="2100">
                <a:latin typeface="Calibri"/>
                <a:ea typeface="Calibri"/>
                <a:cs typeface="Calibri"/>
                <a:sym typeface="Calibri"/>
              </a:defRPr>
            </a:lvl5pPr>
            <a:lvl6pPr lvl="5" algn="l">
              <a:lnSpc>
                <a:spcPct val="100000"/>
              </a:lnSpc>
              <a:spcBef>
                <a:spcPts val="0"/>
              </a:spcBef>
              <a:spcAft>
                <a:spcPts val="0"/>
              </a:spcAft>
              <a:buSzPts val="1700"/>
              <a:buFont typeface="Calibri"/>
              <a:buNone/>
              <a:defRPr sz="2100">
                <a:latin typeface="Calibri"/>
                <a:ea typeface="Calibri"/>
                <a:cs typeface="Calibri"/>
                <a:sym typeface="Calibri"/>
              </a:defRPr>
            </a:lvl6pPr>
            <a:lvl7pPr lvl="6" algn="l">
              <a:lnSpc>
                <a:spcPct val="100000"/>
              </a:lnSpc>
              <a:spcBef>
                <a:spcPts val="0"/>
              </a:spcBef>
              <a:spcAft>
                <a:spcPts val="0"/>
              </a:spcAft>
              <a:buSzPts val="1700"/>
              <a:buFont typeface="Calibri"/>
              <a:buNone/>
              <a:defRPr sz="2100">
                <a:latin typeface="Calibri"/>
                <a:ea typeface="Calibri"/>
                <a:cs typeface="Calibri"/>
                <a:sym typeface="Calibri"/>
              </a:defRPr>
            </a:lvl7pPr>
            <a:lvl8pPr lvl="7" algn="l">
              <a:lnSpc>
                <a:spcPct val="100000"/>
              </a:lnSpc>
              <a:spcBef>
                <a:spcPts val="0"/>
              </a:spcBef>
              <a:spcAft>
                <a:spcPts val="0"/>
              </a:spcAft>
              <a:buSzPts val="1700"/>
              <a:buFont typeface="Calibri"/>
              <a:buNone/>
              <a:defRPr sz="2100">
                <a:latin typeface="Calibri"/>
                <a:ea typeface="Calibri"/>
                <a:cs typeface="Calibri"/>
                <a:sym typeface="Calibri"/>
              </a:defRPr>
            </a:lvl8pPr>
            <a:lvl9pPr lvl="8" algn="l">
              <a:lnSpc>
                <a:spcPct val="100000"/>
              </a:lnSpc>
              <a:spcBef>
                <a:spcPts val="0"/>
              </a:spcBef>
              <a:spcAft>
                <a:spcPts val="0"/>
              </a:spcAft>
              <a:buSzPts val="1700"/>
              <a:buFont typeface="Calibri"/>
              <a:buNone/>
              <a:defRPr sz="2100">
                <a:latin typeface="Calibri"/>
                <a:ea typeface="Calibri"/>
                <a:cs typeface="Calibri"/>
                <a:sym typeface="Calibri"/>
              </a:defRPr>
            </a:lvl9pPr>
          </a:lstStyle>
          <a:p>
            <a:endParaRPr/>
          </a:p>
        </p:txBody>
      </p:sp>
      <p:sp>
        <p:nvSpPr>
          <p:cNvPr id="17" name="Google Shape;17;p16"/>
          <p:cNvSpPr txBox="1">
            <a:spLocks noGrp="1"/>
          </p:cNvSpPr>
          <p:nvPr>
            <p:ph type="subTitle" idx="1"/>
          </p:nvPr>
        </p:nvSpPr>
        <p:spPr>
          <a:xfrm>
            <a:off x="628649" y="3138616"/>
            <a:ext cx="7886699" cy="1293341"/>
          </a:xfrm>
          <a:prstGeom prst="rect">
            <a:avLst/>
          </a:prstGeom>
          <a:noFill/>
          <a:ln>
            <a:noFill/>
          </a:ln>
        </p:spPr>
        <p:txBody>
          <a:bodyPr spcFirstLastPara="1" wrap="square" lIns="91425" tIns="45700" rIns="91425" bIns="45700" anchor="t" anchorCtr="0">
            <a:normAutofit/>
          </a:bodyPr>
          <a:lstStyle>
            <a:lvl1pPr lvl="0" algn="l">
              <a:lnSpc>
                <a:spcPct val="90000"/>
              </a:lnSpc>
              <a:spcBef>
                <a:spcPts val="400"/>
              </a:spcBef>
              <a:spcAft>
                <a:spcPts val="0"/>
              </a:spcAft>
              <a:buClr>
                <a:schemeClr val="lt1"/>
              </a:buClr>
              <a:buSzPts val="2400"/>
              <a:buFont typeface="Calibri"/>
              <a:buNone/>
              <a:defRPr sz="2400" b="1">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8" name="Google Shape;18;p16" descr="University of Vermont logo: A dark green letter V outlined by a white shield and the text University of Vermont"/>
          <p:cNvPicPr preferRelativeResize="0"/>
          <p:nvPr/>
        </p:nvPicPr>
        <p:blipFill rotWithShape="1">
          <a:blip r:embed="rId3">
            <a:alphaModFix/>
          </a:blip>
          <a:srcRect/>
          <a:stretch/>
        </p:blipFill>
        <p:spPr>
          <a:xfrm>
            <a:off x="723910" y="6152528"/>
            <a:ext cx="1274769" cy="41019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628650" y="365125"/>
            <a:ext cx="7886700" cy="104354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154734"/>
              </a:buClr>
              <a:buSzPts val="4200"/>
              <a:buFont typeface="Calibri"/>
              <a:buNone/>
              <a:defRPr sz="4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28650" y="1571348"/>
            <a:ext cx="7886700" cy="42363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0"/>
              </a:spcBef>
              <a:spcAft>
                <a:spcPts val="0"/>
              </a:spcAft>
              <a:buClr>
                <a:schemeClr val="dk1"/>
              </a:buClr>
              <a:buSzPts val="1800"/>
              <a:buFont typeface="Calibri"/>
              <a:buChar char="•"/>
              <a:defRPr/>
            </a:lvl1pPr>
            <a:lvl2pPr marL="914400" lvl="1" indent="-342900" algn="l">
              <a:lnSpc>
                <a:spcPct val="100000"/>
              </a:lnSpc>
              <a:spcBef>
                <a:spcPts val="1200"/>
              </a:spcBef>
              <a:spcAft>
                <a:spcPts val="0"/>
              </a:spcAft>
              <a:buClr>
                <a:schemeClr val="dk1"/>
              </a:buClr>
              <a:buSzPts val="1800"/>
              <a:buFont typeface="Calibri"/>
              <a:buChar char="•"/>
              <a:defRPr/>
            </a:lvl2pPr>
            <a:lvl3pPr marL="1371600" lvl="2" indent="-342900" algn="l">
              <a:lnSpc>
                <a:spcPct val="100000"/>
              </a:lnSpc>
              <a:spcBef>
                <a:spcPts val="1200"/>
              </a:spcBef>
              <a:spcAft>
                <a:spcPts val="0"/>
              </a:spcAft>
              <a:buClr>
                <a:schemeClr val="dk1"/>
              </a:buClr>
              <a:buSzPts val="1800"/>
              <a:buFont typeface="Calibri"/>
              <a:buChar char="•"/>
              <a:defRPr/>
            </a:lvl3pPr>
            <a:lvl4pPr marL="1828800" lvl="3" indent="-342900" algn="l">
              <a:lnSpc>
                <a:spcPct val="100000"/>
              </a:lnSpc>
              <a:spcBef>
                <a:spcPts val="1200"/>
              </a:spcBef>
              <a:spcAft>
                <a:spcPts val="0"/>
              </a:spcAft>
              <a:buClr>
                <a:schemeClr val="dk1"/>
              </a:buClr>
              <a:buSzPts val="1800"/>
              <a:buFont typeface="Calibri"/>
              <a:buChar char="•"/>
              <a:defRPr/>
            </a:lvl4pPr>
            <a:lvl5pPr marL="2286000" lvl="4" indent="-342900" algn="l">
              <a:lnSpc>
                <a:spcPct val="100000"/>
              </a:lnSpc>
              <a:spcBef>
                <a:spcPts val="1200"/>
              </a:spcBef>
              <a:spcAft>
                <a:spcPts val="0"/>
              </a:spcAft>
              <a:buClr>
                <a:schemeClr val="dk1"/>
              </a:buClr>
              <a:buSzPts val="1800"/>
              <a:buFont typeface="Calibri"/>
              <a:buChar char="•"/>
              <a:defRPr/>
            </a:lvl5pPr>
            <a:lvl6pPr marL="2743200" lvl="5" indent="-342900" algn="l">
              <a:lnSpc>
                <a:spcPct val="100000"/>
              </a:lnSpc>
              <a:spcBef>
                <a:spcPts val="1200"/>
              </a:spcBef>
              <a:spcAft>
                <a:spcPts val="0"/>
              </a:spcAft>
              <a:buClr>
                <a:schemeClr val="dk1"/>
              </a:buClr>
              <a:buSzPts val="1800"/>
              <a:buFont typeface="Calibri"/>
              <a:buChar char="•"/>
              <a:defRPr/>
            </a:lvl6pPr>
            <a:lvl7pPr marL="3200400" lvl="6" indent="-342900" algn="l">
              <a:lnSpc>
                <a:spcPct val="100000"/>
              </a:lnSpc>
              <a:spcBef>
                <a:spcPts val="1200"/>
              </a:spcBef>
              <a:spcAft>
                <a:spcPts val="0"/>
              </a:spcAft>
              <a:buClr>
                <a:schemeClr val="dk1"/>
              </a:buClr>
              <a:buSzPts val="1800"/>
              <a:buFont typeface="Calibri"/>
              <a:buChar char="•"/>
              <a:defRPr/>
            </a:lvl7pPr>
            <a:lvl8pPr marL="3657600" lvl="7" indent="-342900" algn="l">
              <a:lnSpc>
                <a:spcPct val="100000"/>
              </a:lnSpc>
              <a:spcBef>
                <a:spcPts val="1200"/>
              </a:spcBef>
              <a:spcAft>
                <a:spcPts val="0"/>
              </a:spcAft>
              <a:buClr>
                <a:schemeClr val="dk1"/>
              </a:buClr>
              <a:buSzPts val="1800"/>
              <a:buFont typeface="Calibri"/>
              <a:buChar char="•"/>
              <a:defRPr/>
            </a:lvl8pPr>
            <a:lvl9pPr marL="4114800" lvl="8" indent="-342900" algn="l">
              <a:lnSpc>
                <a:spcPct val="100000"/>
              </a:lnSpc>
              <a:spcBef>
                <a:spcPts val="1200"/>
              </a:spcBef>
              <a:spcAft>
                <a:spcPts val="1200"/>
              </a:spcAft>
              <a:buClr>
                <a:schemeClr val="dk1"/>
              </a:buClr>
              <a:buSzPts val="1800"/>
              <a:buFont typeface="Calibri"/>
              <a:buChar char="•"/>
              <a:defRPr/>
            </a:lvl9pPr>
          </a:lstStyle>
          <a:p>
            <a:endParaRPr/>
          </a:p>
        </p:txBody>
      </p:sp>
      <p:sp>
        <p:nvSpPr>
          <p:cNvPr id="22" name="Google Shape;22;p17"/>
          <p:cNvSpPr txBox="1"/>
          <p:nvPr/>
        </p:nvSpPr>
        <p:spPr>
          <a:xfrm>
            <a:off x="2686050" y="6356350"/>
            <a:ext cx="6176324" cy="30697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1" dirty="0">
                <a:solidFill>
                  <a:srgbClr val="154734"/>
                </a:solidFill>
                <a:latin typeface="Century Gothic"/>
                <a:ea typeface="Century Gothic"/>
                <a:cs typeface="Century Gothic"/>
                <a:sym typeface="Century Gothic"/>
              </a:rPr>
              <a:t>João Franco and </a:t>
            </a:r>
            <a:r>
              <a:rPr lang="en-US" sz="800" b="1" i="0" u="none" strike="noStrike" cap="none" dirty="0">
                <a:solidFill>
                  <a:srgbClr val="154734"/>
                </a:solidFill>
                <a:latin typeface="Century Gothic"/>
                <a:ea typeface="Century Gothic"/>
                <a:cs typeface="Century Gothic"/>
                <a:sym typeface="Century Gothic"/>
              </a:rPr>
              <a:t>Jackson Lipfert | DECEMBER 2025 | PAGE </a:t>
            </a:r>
            <a:fld id="{00000000-1234-1234-1234-123412341234}" type="slidenum">
              <a:rPr lang="en-US" sz="800" b="1" i="0" u="none" strike="noStrike" cap="none">
                <a:solidFill>
                  <a:srgbClr val="154734"/>
                </a:solidFill>
                <a:latin typeface="Century Gothic"/>
                <a:ea typeface="Century Gothic"/>
                <a:cs typeface="Century Gothic"/>
                <a:sym typeface="Century Gothic"/>
              </a:rPr>
              <a:t>‹#›</a:t>
            </a:fld>
            <a:endParaRPr sz="800" b="1" i="0" u="none" strike="noStrike" cap="none" dirty="0">
              <a:solidFill>
                <a:srgbClr val="154734"/>
              </a:solidFill>
              <a:latin typeface="Century Gothic"/>
              <a:ea typeface="Century Gothic"/>
              <a:cs typeface="Century Gothic"/>
              <a:sym typeface="Century Gothic"/>
            </a:endParaRPr>
          </a:p>
        </p:txBody>
      </p:sp>
      <p:pic>
        <p:nvPicPr>
          <p:cNvPr id="23" name="Google Shape;23;p17" descr="University of Vermont logo: A white letter V outlined by a dark green shield and the text University of Vermont"/>
          <p:cNvPicPr preferRelativeResize="0"/>
          <p:nvPr/>
        </p:nvPicPr>
        <p:blipFill rotWithShape="1">
          <a:blip r:embed="rId2">
            <a:alphaModFix/>
          </a:blip>
          <a:srcRect/>
          <a:stretch/>
        </p:blipFill>
        <p:spPr>
          <a:xfrm>
            <a:off x="722376" y="6151251"/>
            <a:ext cx="1274769" cy="41019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4"/>
        <p:cNvGrpSpPr/>
        <p:nvPr/>
      </p:nvGrpSpPr>
      <p:grpSpPr>
        <a:xfrm>
          <a:off x="0" y="0"/>
          <a:ext cx="0" cy="0"/>
          <a:chOff x="0" y="0"/>
          <a:chExt cx="0" cy="0"/>
        </a:xfrm>
      </p:grpSpPr>
      <p:pic>
        <p:nvPicPr>
          <p:cNvPr id="25" name="Google Shape;25;p18"/>
          <p:cNvPicPr preferRelativeResize="0"/>
          <p:nvPr/>
        </p:nvPicPr>
        <p:blipFill rotWithShape="1">
          <a:blip r:embed="rId2">
            <a:alphaModFix/>
          </a:blip>
          <a:srcRect l="24969"/>
          <a:stretch/>
        </p:blipFill>
        <p:spPr>
          <a:xfrm>
            <a:off x="1" y="0"/>
            <a:ext cx="9144000" cy="6858000"/>
          </a:xfrm>
          <a:prstGeom prst="rect">
            <a:avLst/>
          </a:prstGeom>
          <a:noFill/>
          <a:ln>
            <a:noFill/>
          </a:ln>
        </p:spPr>
      </p:pic>
      <p:sp>
        <p:nvSpPr>
          <p:cNvPr id="26" name="Google Shape;26;p18"/>
          <p:cNvSpPr txBox="1">
            <a:spLocks noGrp="1"/>
          </p:cNvSpPr>
          <p:nvPr>
            <p:ph type="ctrTitle"/>
          </p:nvPr>
        </p:nvSpPr>
        <p:spPr>
          <a:xfrm>
            <a:off x="628650" y="1122363"/>
            <a:ext cx="7886700" cy="19104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400"/>
              <a:buFont typeface="Calibri"/>
              <a:buNone/>
              <a:defRPr sz="6400">
                <a:solidFill>
                  <a:schemeClr val="lt1"/>
                </a:solidFill>
                <a:latin typeface="Calibri"/>
                <a:ea typeface="Calibri"/>
                <a:cs typeface="Calibri"/>
                <a:sym typeface="Calibri"/>
              </a:defRPr>
            </a:lvl1pPr>
            <a:lvl2pPr lvl="1" algn="l">
              <a:lnSpc>
                <a:spcPct val="100000"/>
              </a:lnSpc>
              <a:spcBef>
                <a:spcPts val="0"/>
              </a:spcBef>
              <a:spcAft>
                <a:spcPts val="0"/>
              </a:spcAft>
              <a:buSzPts val="1700"/>
              <a:buFont typeface="Calibri"/>
              <a:buNone/>
              <a:defRPr sz="2100">
                <a:latin typeface="Calibri"/>
                <a:ea typeface="Calibri"/>
                <a:cs typeface="Calibri"/>
                <a:sym typeface="Calibri"/>
              </a:defRPr>
            </a:lvl2pPr>
            <a:lvl3pPr lvl="2" algn="l">
              <a:lnSpc>
                <a:spcPct val="100000"/>
              </a:lnSpc>
              <a:spcBef>
                <a:spcPts val="0"/>
              </a:spcBef>
              <a:spcAft>
                <a:spcPts val="0"/>
              </a:spcAft>
              <a:buSzPts val="1700"/>
              <a:buFont typeface="Calibri"/>
              <a:buNone/>
              <a:defRPr sz="2100">
                <a:latin typeface="Calibri"/>
                <a:ea typeface="Calibri"/>
                <a:cs typeface="Calibri"/>
                <a:sym typeface="Calibri"/>
              </a:defRPr>
            </a:lvl3pPr>
            <a:lvl4pPr lvl="3" algn="l">
              <a:lnSpc>
                <a:spcPct val="100000"/>
              </a:lnSpc>
              <a:spcBef>
                <a:spcPts val="0"/>
              </a:spcBef>
              <a:spcAft>
                <a:spcPts val="0"/>
              </a:spcAft>
              <a:buSzPts val="1700"/>
              <a:buFont typeface="Calibri"/>
              <a:buNone/>
              <a:defRPr sz="2100">
                <a:latin typeface="Calibri"/>
                <a:ea typeface="Calibri"/>
                <a:cs typeface="Calibri"/>
                <a:sym typeface="Calibri"/>
              </a:defRPr>
            </a:lvl4pPr>
            <a:lvl5pPr lvl="4" algn="l">
              <a:lnSpc>
                <a:spcPct val="100000"/>
              </a:lnSpc>
              <a:spcBef>
                <a:spcPts val="0"/>
              </a:spcBef>
              <a:spcAft>
                <a:spcPts val="0"/>
              </a:spcAft>
              <a:buSzPts val="1700"/>
              <a:buFont typeface="Calibri"/>
              <a:buNone/>
              <a:defRPr sz="2100">
                <a:latin typeface="Calibri"/>
                <a:ea typeface="Calibri"/>
                <a:cs typeface="Calibri"/>
                <a:sym typeface="Calibri"/>
              </a:defRPr>
            </a:lvl5pPr>
            <a:lvl6pPr lvl="5" algn="l">
              <a:lnSpc>
                <a:spcPct val="100000"/>
              </a:lnSpc>
              <a:spcBef>
                <a:spcPts val="0"/>
              </a:spcBef>
              <a:spcAft>
                <a:spcPts val="0"/>
              </a:spcAft>
              <a:buSzPts val="1700"/>
              <a:buFont typeface="Calibri"/>
              <a:buNone/>
              <a:defRPr sz="2100">
                <a:latin typeface="Calibri"/>
                <a:ea typeface="Calibri"/>
                <a:cs typeface="Calibri"/>
                <a:sym typeface="Calibri"/>
              </a:defRPr>
            </a:lvl6pPr>
            <a:lvl7pPr lvl="6" algn="l">
              <a:lnSpc>
                <a:spcPct val="100000"/>
              </a:lnSpc>
              <a:spcBef>
                <a:spcPts val="0"/>
              </a:spcBef>
              <a:spcAft>
                <a:spcPts val="0"/>
              </a:spcAft>
              <a:buSzPts val="1700"/>
              <a:buFont typeface="Calibri"/>
              <a:buNone/>
              <a:defRPr sz="2100">
                <a:latin typeface="Calibri"/>
                <a:ea typeface="Calibri"/>
                <a:cs typeface="Calibri"/>
                <a:sym typeface="Calibri"/>
              </a:defRPr>
            </a:lvl7pPr>
            <a:lvl8pPr lvl="7" algn="l">
              <a:lnSpc>
                <a:spcPct val="100000"/>
              </a:lnSpc>
              <a:spcBef>
                <a:spcPts val="0"/>
              </a:spcBef>
              <a:spcAft>
                <a:spcPts val="0"/>
              </a:spcAft>
              <a:buSzPts val="1700"/>
              <a:buFont typeface="Calibri"/>
              <a:buNone/>
              <a:defRPr sz="2100">
                <a:latin typeface="Calibri"/>
                <a:ea typeface="Calibri"/>
                <a:cs typeface="Calibri"/>
                <a:sym typeface="Calibri"/>
              </a:defRPr>
            </a:lvl8pPr>
            <a:lvl9pPr lvl="8" algn="l">
              <a:lnSpc>
                <a:spcPct val="100000"/>
              </a:lnSpc>
              <a:spcBef>
                <a:spcPts val="0"/>
              </a:spcBef>
              <a:spcAft>
                <a:spcPts val="0"/>
              </a:spcAft>
              <a:buSzPts val="1700"/>
              <a:buFont typeface="Calibri"/>
              <a:buNone/>
              <a:defRPr sz="2100">
                <a:latin typeface="Calibri"/>
                <a:ea typeface="Calibri"/>
                <a:cs typeface="Calibri"/>
                <a:sym typeface="Calibri"/>
              </a:defRPr>
            </a:lvl9pPr>
          </a:lstStyle>
          <a:p>
            <a:endParaRPr/>
          </a:p>
        </p:txBody>
      </p:sp>
      <p:sp>
        <p:nvSpPr>
          <p:cNvPr id="27" name="Google Shape;27;p18"/>
          <p:cNvSpPr txBox="1">
            <a:spLocks noGrp="1"/>
          </p:cNvSpPr>
          <p:nvPr>
            <p:ph type="subTitle" idx="1"/>
          </p:nvPr>
        </p:nvSpPr>
        <p:spPr>
          <a:xfrm>
            <a:off x="628649" y="3825189"/>
            <a:ext cx="7886699" cy="6067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400"/>
              </a:spcBef>
              <a:spcAft>
                <a:spcPts val="0"/>
              </a:spcAft>
              <a:buClr>
                <a:schemeClr val="lt1"/>
              </a:buClr>
              <a:buSzPts val="2400"/>
              <a:buFont typeface="Calibri"/>
              <a:buNone/>
              <a:defRPr sz="2400" b="1">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8" name="Google Shape;28;p18" descr="University of Vermont logo: A dark green letter V outlined by a white shield and the text University of Vermont"/>
          <p:cNvPicPr preferRelativeResize="0"/>
          <p:nvPr/>
        </p:nvPicPr>
        <p:blipFill rotWithShape="1">
          <a:blip r:embed="rId3">
            <a:alphaModFix/>
          </a:blip>
          <a:srcRect/>
          <a:stretch/>
        </p:blipFill>
        <p:spPr>
          <a:xfrm>
            <a:off x="722376" y="6152528"/>
            <a:ext cx="1274769" cy="41019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5"/>
          <p:cNvGrpSpPr/>
          <p:nvPr/>
        </p:nvGrpSpPr>
        <p:grpSpPr>
          <a:xfrm>
            <a:off x="-3880" y="-1"/>
            <a:ext cx="9147880" cy="5041558"/>
            <a:chOff x="-3882" y="-1"/>
            <a:chExt cx="12187063" cy="6858001"/>
          </a:xfrm>
        </p:grpSpPr>
        <p:sp>
          <p:nvSpPr>
            <p:cNvPr id="7" name="Google Shape;7;p15"/>
            <p:cNvSpPr/>
            <p:nvPr/>
          </p:nvSpPr>
          <p:spPr>
            <a:xfrm>
              <a:off x="-3882" y="-1"/>
              <a:ext cx="12187063" cy="685800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 name="Google Shape;8;p15"/>
            <p:cNvPicPr preferRelativeResize="0"/>
            <p:nvPr/>
          </p:nvPicPr>
          <p:blipFill rotWithShape="1">
            <a:blip r:embed="rId5">
              <a:alphaModFix/>
            </a:blip>
            <a:srcRect/>
            <a:stretch/>
          </p:blipFill>
          <p:spPr>
            <a:xfrm>
              <a:off x="-3882" y="1"/>
              <a:ext cx="12187063" cy="6857999"/>
            </a:xfrm>
            <a:prstGeom prst="rect">
              <a:avLst/>
            </a:prstGeom>
            <a:noFill/>
            <a:ln>
              <a:noFill/>
            </a:ln>
          </p:spPr>
        </p:pic>
      </p:grpSp>
      <p:sp>
        <p:nvSpPr>
          <p:cNvPr id="9" name="Google Shape;9;p1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154734"/>
              </a:buClr>
              <a:buSzPts val="4800"/>
              <a:buFont typeface="Libre Franklin Medium"/>
              <a:buNone/>
              <a:defRPr sz="4800" b="1" i="0" u="none" strike="noStrike" cap="none">
                <a:solidFill>
                  <a:srgbClr val="154734"/>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1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 name="Google Shape;11;p1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
          <p:cNvSpPr txBox="1">
            <a:spLocks noGrp="1"/>
          </p:cNvSpPr>
          <p:nvPr>
            <p:ph type="ctrTitle"/>
          </p:nvPr>
        </p:nvSpPr>
        <p:spPr>
          <a:xfrm>
            <a:off x="562475" y="889599"/>
            <a:ext cx="7953000" cy="242933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6000"/>
              <a:buFont typeface="Libre Franklin Medium"/>
              <a:buNone/>
            </a:pPr>
            <a:r>
              <a:rPr lang="en-US" sz="5600" b="0" dirty="0">
                <a:latin typeface="Merriweather"/>
                <a:ea typeface="Merriweather"/>
                <a:cs typeface="Merriweather"/>
                <a:sym typeface="Merriweather"/>
              </a:rPr>
              <a:t>FRY9C Reports, Banking, and Crashes: </a:t>
            </a:r>
            <a:endParaRPr sz="5600" b="0" dirty="0">
              <a:latin typeface="Merriweather"/>
              <a:ea typeface="Merriweather"/>
              <a:cs typeface="Merriweather"/>
              <a:sym typeface="Merriweather"/>
            </a:endParaRPr>
          </a:p>
        </p:txBody>
      </p:sp>
      <p:sp>
        <p:nvSpPr>
          <p:cNvPr id="40" name="Google Shape;40;p1"/>
          <p:cNvSpPr txBox="1">
            <a:spLocks noGrp="1"/>
          </p:cNvSpPr>
          <p:nvPr>
            <p:ph type="subTitle" idx="1"/>
          </p:nvPr>
        </p:nvSpPr>
        <p:spPr>
          <a:xfrm>
            <a:off x="628649" y="3477286"/>
            <a:ext cx="7886700" cy="12933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400"/>
              </a:spcBef>
              <a:spcAft>
                <a:spcPts val="0"/>
              </a:spcAft>
              <a:buClr>
                <a:schemeClr val="lt1"/>
              </a:buClr>
              <a:buSzPts val="1210"/>
              <a:buFont typeface="Arial"/>
              <a:buNone/>
            </a:pPr>
            <a:r>
              <a:rPr lang="en-US" sz="3600" b="0" dirty="0">
                <a:latin typeface="Merriweather"/>
                <a:ea typeface="Merriweather"/>
                <a:cs typeface="Merriweather"/>
                <a:sym typeface="Merriweather"/>
              </a:rPr>
              <a:t>Can 2008 Predict 2020?</a:t>
            </a:r>
            <a:endParaRPr sz="3600" b="0" dirty="0">
              <a:latin typeface="Merriweather"/>
              <a:ea typeface="Merriweather"/>
              <a:cs typeface="Merriweather"/>
              <a:sym typeface="Merriweather"/>
            </a:endParaRPr>
          </a:p>
        </p:txBody>
      </p:sp>
      <p:sp>
        <p:nvSpPr>
          <p:cNvPr id="41" name="Google Shape;41;p1"/>
          <p:cNvSpPr txBox="1"/>
          <p:nvPr/>
        </p:nvSpPr>
        <p:spPr>
          <a:xfrm>
            <a:off x="628650" y="4897325"/>
            <a:ext cx="62010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a:solidFill>
                  <a:srgbClr val="FFD100"/>
                </a:solidFill>
                <a:latin typeface="Merriweather"/>
                <a:ea typeface="Merriweather"/>
                <a:cs typeface="Merriweather"/>
                <a:sym typeface="Merriweather"/>
              </a:rPr>
              <a:t>B</a:t>
            </a:r>
            <a:r>
              <a:rPr lang="en-US" sz="2300" b="0" i="0" u="none" strike="noStrike" cap="none">
                <a:solidFill>
                  <a:srgbClr val="FFD100"/>
                </a:solidFill>
                <a:latin typeface="Merriweather"/>
                <a:ea typeface="Merriweather"/>
                <a:cs typeface="Merriweather"/>
                <a:sym typeface="Merriweather"/>
              </a:rPr>
              <a:t>y </a:t>
            </a:r>
            <a:r>
              <a:rPr lang="en-US" sz="2300">
                <a:solidFill>
                  <a:srgbClr val="FFD100"/>
                </a:solidFill>
                <a:latin typeface="Merriweather"/>
                <a:ea typeface="Merriweather"/>
                <a:cs typeface="Merriweather"/>
                <a:sym typeface="Merriweather"/>
              </a:rPr>
              <a:t>Jackson Lipfert and João Franco</a:t>
            </a:r>
            <a:endParaRPr sz="2300" b="0" i="0" u="none" strike="noStrike" cap="none">
              <a:solidFill>
                <a:srgbClr val="000000"/>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g3aa2725fc43_0_6"/>
          <p:cNvSpPr txBox="1">
            <a:spLocks noGrp="1"/>
          </p:cNvSpPr>
          <p:nvPr>
            <p:ph type="body" idx="1"/>
          </p:nvPr>
        </p:nvSpPr>
        <p:spPr>
          <a:xfrm>
            <a:off x="431525" y="1408525"/>
            <a:ext cx="8712600" cy="42363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154734"/>
              </a:buClr>
              <a:buSzPts val="2800"/>
              <a:buFont typeface="Merriweather"/>
              <a:buAutoNum type="arabicPeriod"/>
            </a:pPr>
            <a:r>
              <a:rPr lang="en-US" sz="2600" dirty="0">
                <a:solidFill>
                  <a:srgbClr val="154734"/>
                </a:solidFill>
                <a:latin typeface="Merriweather"/>
                <a:ea typeface="Merriweather"/>
                <a:cs typeface="Merriweather"/>
                <a:sym typeface="Merriweather"/>
              </a:rPr>
              <a:t>Questions: Do Balance Sheets Hold The Secret?</a:t>
            </a:r>
            <a:endParaRPr sz="2600"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sz="2600" dirty="0">
                <a:solidFill>
                  <a:srgbClr val="154734"/>
                </a:solidFill>
                <a:latin typeface="Merriweather"/>
                <a:ea typeface="Merriweather"/>
                <a:cs typeface="Merriweather"/>
                <a:sym typeface="Merriweather"/>
              </a:rPr>
              <a:t>Introduction: What’s A Y9C?</a:t>
            </a:r>
            <a:endParaRPr sz="2600"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sz="2600" dirty="0">
                <a:solidFill>
                  <a:srgbClr val="154734"/>
                </a:solidFill>
                <a:latin typeface="Merriweather"/>
                <a:ea typeface="Merriweather"/>
                <a:cs typeface="Merriweather"/>
                <a:sym typeface="Merriweather"/>
              </a:rPr>
              <a:t>Methods: Finding the Signal</a:t>
            </a:r>
            <a:endParaRPr sz="2600"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sz="2600" dirty="0">
                <a:solidFill>
                  <a:srgbClr val="154734"/>
                </a:solidFill>
                <a:latin typeface="Merriweather"/>
                <a:ea typeface="Merriweather"/>
                <a:cs typeface="Merriweather"/>
                <a:sym typeface="Merriweather"/>
              </a:rPr>
              <a:t>Results: Describing 2008 and 2020</a:t>
            </a:r>
            <a:endParaRPr sz="2600"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sz="2600" dirty="0">
                <a:solidFill>
                  <a:srgbClr val="154734"/>
                </a:solidFill>
                <a:latin typeface="Merriweather"/>
                <a:ea typeface="Merriweather"/>
                <a:cs typeface="Merriweather"/>
                <a:sym typeface="Merriweather"/>
              </a:rPr>
              <a:t>Results: Predicting Bank Results</a:t>
            </a:r>
            <a:endParaRPr sz="2600"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sz="2600" dirty="0">
                <a:solidFill>
                  <a:srgbClr val="154734"/>
                </a:solidFill>
                <a:latin typeface="Merriweather"/>
                <a:ea typeface="Merriweather"/>
                <a:cs typeface="Merriweather"/>
                <a:sym typeface="Merriweather"/>
              </a:rPr>
              <a:t>Discussion: Limitations and Next Steps</a:t>
            </a:r>
            <a:endParaRPr sz="2600" dirty="0">
              <a:solidFill>
                <a:srgbClr val="154734"/>
              </a:solidFill>
              <a:latin typeface="Merriweather"/>
              <a:ea typeface="Merriweather"/>
              <a:cs typeface="Merriweather"/>
              <a:sym typeface="Merriweather"/>
            </a:endParaRPr>
          </a:p>
        </p:txBody>
      </p:sp>
      <p:sp>
        <p:nvSpPr>
          <p:cNvPr id="3" name="Title 2">
            <a:extLst>
              <a:ext uri="{FF2B5EF4-FFF2-40B4-BE49-F238E27FC236}">
                <a16:creationId xmlns:a16="http://schemas.microsoft.com/office/drawing/2014/main" id="{510909C2-E628-805B-D5F6-0BA563773FE8}"/>
              </a:ext>
            </a:extLst>
          </p:cNvPr>
          <p:cNvSpPr>
            <a:spLocks noGrp="1"/>
          </p:cNvSpPr>
          <p:nvPr>
            <p:ph type="title"/>
          </p:nvPr>
        </p:nvSpPr>
        <p:spPr/>
        <p:txBody>
          <a:bodyPr/>
          <a:lstStyle/>
          <a:p>
            <a:endParaRPr lang="en-US"/>
          </a:p>
        </p:txBody>
      </p:sp>
      <p:sp>
        <p:nvSpPr>
          <p:cNvPr id="4" name="Google Shape;79;g3abb392cea2_0_72">
            <a:extLst>
              <a:ext uri="{FF2B5EF4-FFF2-40B4-BE49-F238E27FC236}">
                <a16:creationId xmlns:a16="http://schemas.microsoft.com/office/drawing/2014/main" id="{58CE248E-F196-5CB8-CF3E-D748E546CD9C}"/>
              </a:ext>
            </a:extLst>
          </p:cNvPr>
          <p:cNvSpPr txBox="1">
            <a:spLocks/>
          </p:cNvSpPr>
          <p:nvPr/>
        </p:nvSpPr>
        <p:spPr>
          <a:xfrm>
            <a:off x="44085" y="138700"/>
            <a:ext cx="9091830" cy="678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57200" algn="ctr">
              <a:lnSpc>
                <a:spcPct val="150000"/>
              </a:lnSpc>
            </a:pPr>
            <a:r>
              <a:rPr lang="en-US" dirty="0">
                <a:latin typeface="Merriweather"/>
                <a:ea typeface="Merriweather"/>
                <a:cs typeface="Merriweather"/>
                <a:sym typeface="Merriweather"/>
              </a:rPr>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g3aba591d317_1_11"/>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rmAutofit fontScale="92500" lnSpcReduction="20000"/>
          </a:bodyPr>
          <a:lstStyle/>
          <a:p>
            <a:pPr lvl="0" indent="-422910">
              <a:lnSpc>
                <a:spcPct val="150000"/>
              </a:lnSpc>
              <a:buClr>
                <a:srgbClr val="154734"/>
              </a:buClr>
              <a:buSzPct val="100000"/>
              <a:buFont typeface="Merriweather"/>
              <a:buAutoNum type="arabicPeriod"/>
            </a:pPr>
            <a:r>
              <a:rPr lang="en-US" sz="3600" dirty="0">
                <a:solidFill>
                  <a:srgbClr val="154734"/>
                </a:solidFill>
                <a:latin typeface="Merriweather"/>
                <a:ea typeface="Merriweather"/>
                <a:cs typeface="Merriweather"/>
                <a:sym typeface="Merriweather"/>
              </a:rPr>
              <a:t>Do Y9C reports show the effects of the 2008 and 2020 crashes?</a:t>
            </a:r>
          </a:p>
          <a:p>
            <a:pPr lvl="0" indent="-422910">
              <a:lnSpc>
                <a:spcPct val="150000"/>
              </a:lnSpc>
              <a:buClr>
                <a:srgbClr val="154734"/>
              </a:buClr>
              <a:buSzPct val="100000"/>
              <a:buFont typeface="Merriweather"/>
              <a:buAutoNum type="arabicPeriod"/>
            </a:pPr>
            <a:r>
              <a:rPr lang="en-US" sz="3600" dirty="0">
                <a:solidFill>
                  <a:srgbClr val="154734"/>
                </a:solidFill>
                <a:latin typeface="Merriweather"/>
                <a:ea typeface="Merriweather"/>
                <a:cs typeface="Merriweather"/>
                <a:sym typeface="Merriweather"/>
              </a:rPr>
              <a:t>Can we predict post 2008 crash outcomes using the Y9C?</a:t>
            </a:r>
          </a:p>
          <a:p>
            <a:pPr lvl="0" indent="-422910">
              <a:lnSpc>
                <a:spcPct val="150000"/>
              </a:lnSpc>
              <a:buClr>
                <a:srgbClr val="154734"/>
              </a:buClr>
              <a:buSzPct val="100000"/>
              <a:buFont typeface="Merriweather"/>
              <a:buAutoNum type="arabicPeriod"/>
            </a:pPr>
            <a:r>
              <a:rPr lang="en-US" sz="3600" dirty="0">
                <a:solidFill>
                  <a:srgbClr val="154734"/>
                </a:solidFill>
                <a:latin typeface="Merriweather"/>
                <a:ea typeface="Merriweather"/>
                <a:cs typeface="Merriweather"/>
                <a:sym typeface="Merriweather"/>
              </a:rPr>
              <a:t>If so, how well will our model do for the 2020 crash?</a:t>
            </a:r>
          </a:p>
          <a:p>
            <a:pPr lvl="0" indent="0">
              <a:lnSpc>
                <a:spcPct val="90000"/>
              </a:lnSpc>
              <a:spcBef>
                <a:spcPts val="1200"/>
              </a:spcBef>
              <a:spcAft>
                <a:spcPts val="1200"/>
              </a:spcAft>
              <a:buSzPct val="64285"/>
              <a:buNone/>
            </a:pPr>
            <a:endParaRPr lang="en-US" sz="3600" dirty="0"/>
          </a:p>
        </p:txBody>
      </p:sp>
      <p:sp>
        <p:nvSpPr>
          <p:cNvPr id="3" name="Google Shape;79;g3abb392cea2_0_72">
            <a:extLst>
              <a:ext uri="{FF2B5EF4-FFF2-40B4-BE49-F238E27FC236}">
                <a16:creationId xmlns:a16="http://schemas.microsoft.com/office/drawing/2014/main" id="{840A10AF-69BE-1EE7-F6B3-1AD9089B3333}"/>
              </a:ext>
            </a:extLst>
          </p:cNvPr>
          <p:cNvSpPr txBox="1">
            <a:spLocks/>
          </p:cNvSpPr>
          <p:nvPr/>
        </p:nvSpPr>
        <p:spPr>
          <a:xfrm>
            <a:off x="44085" y="138700"/>
            <a:ext cx="9091830" cy="678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57200" algn="ctr">
              <a:lnSpc>
                <a:spcPct val="150000"/>
              </a:lnSpc>
            </a:pPr>
            <a:r>
              <a:rPr lang="en-US" dirty="0">
                <a:latin typeface="Merriweather"/>
                <a:ea typeface="Merriweather"/>
                <a:cs typeface="Merriweather"/>
                <a:sym typeface="Merriweather"/>
              </a:rPr>
              <a:t>Questions</a:t>
            </a:r>
          </a:p>
        </p:txBody>
      </p:sp>
      <p:sp>
        <p:nvSpPr>
          <p:cNvPr id="4" name="Rectangle 3">
            <a:extLst>
              <a:ext uri="{FF2B5EF4-FFF2-40B4-BE49-F238E27FC236}">
                <a16:creationId xmlns:a16="http://schemas.microsoft.com/office/drawing/2014/main" id="{3D56BBD6-74D0-7862-7281-BD27307C291C}"/>
              </a:ext>
            </a:extLst>
          </p:cNvPr>
          <p:cNvSpPr/>
          <p:nvPr/>
        </p:nvSpPr>
        <p:spPr>
          <a:xfrm>
            <a:off x="-2292563" y="3145115"/>
            <a:ext cx="1472650" cy="5677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3. Same approach instead of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aba591d317_1_24"/>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Autofit/>
          </a:bodyPr>
          <a:lstStyle/>
          <a:p>
            <a:pPr marL="45720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pic>
        <p:nvPicPr>
          <p:cNvPr id="61" name="Google Shape;61;g3aba591d317_1_24" title="Screen Shot 2025-11-30 at 6.24.31 PM.png"/>
          <p:cNvPicPr preferRelativeResize="0"/>
          <p:nvPr/>
        </p:nvPicPr>
        <p:blipFill>
          <a:blip r:embed="rId3">
            <a:alphaModFix/>
          </a:blip>
          <a:stretch>
            <a:fillRect/>
          </a:stretch>
        </p:blipFill>
        <p:spPr>
          <a:xfrm>
            <a:off x="-12" y="1354600"/>
            <a:ext cx="3686175" cy="2647950"/>
          </a:xfrm>
          <a:prstGeom prst="rect">
            <a:avLst/>
          </a:prstGeom>
          <a:noFill/>
          <a:ln>
            <a:noFill/>
          </a:ln>
        </p:spPr>
      </p:pic>
      <p:pic>
        <p:nvPicPr>
          <p:cNvPr id="62" name="Google Shape;62;g3aba591d317_1_24" title="Screen Shot 2025-11-30 at 6.26.03 PM.png"/>
          <p:cNvPicPr preferRelativeResize="0"/>
          <p:nvPr/>
        </p:nvPicPr>
        <p:blipFill>
          <a:blip r:embed="rId4">
            <a:alphaModFix/>
          </a:blip>
          <a:stretch>
            <a:fillRect/>
          </a:stretch>
        </p:blipFill>
        <p:spPr>
          <a:xfrm>
            <a:off x="3686163" y="2483313"/>
            <a:ext cx="5210175" cy="390525"/>
          </a:xfrm>
          <a:prstGeom prst="rect">
            <a:avLst/>
          </a:prstGeom>
          <a:noFill/>
          <a:ln>
            <a:noFill/>
          </a:ln>
        </p:spPr>
      </p:pic>
      <p:pic>
        <p:nvPicPr>
          <p:cNvPr id="63" name="Google Shape;63;g3aba591d317_1_24" title="Screen Shot 2025-11-30 at 6.30.35 PM.png"/>
          <p:cNvPicPr preferRelativeResize="0"/>
          <p:nvPr/>
        </p:nvPicPr>
        <p:blipFill>
          <a:blip r:embed="rId5">
            <a:alphaModFix/>
          </a:blip>
          <a:stretch>
            <a:fillRect/>
          </a:stretch>
        </p:blipFill>
        <p:spPr>
          <a:xfrm>
            <a:off x="2031760" y="3062050"/>
            <a:ext cx="5814975" cy="3143250"/>
          </a:xfrm>
          <a:prstGeom prst="rect">
            <a:avLst/>
          </a:prstGeom>
          <a:noFill/>
          <a:ln>
            <a:noFill/>
          </a:ln>
        </p:spPr>
      </p:pic>
      <p:sp>
        <p:nvSpPr>
          <p:cNvPr id="2" name="Google Shape;79;g3abb392cea2_0_72">
            <a:extLst>
              <a:ext uri="{FF2B5EF4-FFF2-40B4-BE49-F238E27FC236}">
                <a16:creationId xmlns:a16="http://schemas.microsoft.com/office/drawing/2014/main" id="{21E8DB1F-6810-BE2E-5773-69EA9523A740}"/>
              </a:ext>
            </a:extLst>
          </p:cNvPr>
          <p:cNvSpPr txBox="1">
            <a:spLocks/>
          </p:cNvSpPr>
          <p:nvPr/>
        </p:nvSpPr>
        <p:spPr>
          <a:xfrm>
            <a:off x="44085" y="138700"/>
            <a:ext cx="9091830" cy="678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57200" algn="ctr">
              <a:lnSpc>
                <a:spcPct val="150000"/>
              </a:lnSpc>
            </a:pPr>
            <a:r>
              <a:rPr lang="en-US" dirty="0">
                <a:latin typeface="Merriweather"/>
                <a:ea typeface="Merriweather"/>
                <a:cs typeface="Merriweather"/>
                <a:sym typeface="Merriweather"/>
              </a:rPr>
              <a:t>Introduction:  What’s A Y9C?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5" name="Google Shape;75;g3abb392cea2_0_72" title="Screen Shot 2025-11-30 at 6.45.47 PM.png"/>
          <p:cNvPicPr preferRelativeResize="0"/>
          <p:nvPr/>
        </p:nvPicPr>
        <p:blipFill>
          <a:blip r:embed="rId3">
            <a:alphaModFix/>
          </a:blip>
          <a:stretch>
            <a:fillRect/>
          </a:stretch>
        </p:blipFill>
        <p:spPr>
          <a:xfrm>
            <a:off x="471650" y="1443159"/>
            <a:ext cx="2514600" cy="828675"/>
          </a:xfrm>
          <a:prstGeom prst="rect">
            <a:avLst/>
          </a:prstGeom>
          <a:noFill/>
          <a:ln>
            <a:noFill/>
          </a:ln>
        </p:spPr>
      </p:pic>
      <p:pic>
        <p:nvPicPr>
          <p:cNvPr id="76" name="Google Shape;76;g3abb392cea2_0_72" title="Screen Shot 2025-11-30 at 6.50.13 PM.png"/>
          <p:cNvPicPr preferRelativeResize="0"/>
          <p:nvPr/>
        </p:nvPicPr>
        <p:blipFill>
          <a:blip r:embed="rId4">
            <a:alphaModFix/>
          </a:blip>
          <a:stretch>
            <a:fillRect/>
          </a:stretch>
        </p:blipFill>
        <p:spPr>
          <a:xfrm>
            <a:off x="457363" y="4549297"/>
            <a:ext cx="2543175" cy="800100"/>
          </a:xfrm>
          <a:prstGeom prst="rect">
            <a:avLst/>
          </a:prstGeom>
          <a:noFill/>
          <a:ln>
            <a:noFill/>
          </a:ln>
        </p:spPr>
      </p:pic>
      <p:pic>
        <p:nvPicPr>
          <p:cNvPr id="77" name="Google Shape;77;g3abb392cea2_0_72"/>
          <p:cNvPicPr preferRelativeResize="0"/>
          <p:nvPr/>
        </p:nvPicPr>
        <p:blipFill>
          <a:blip r:embed="rId5">
            <a:alphaModFix/>
          </a:blip>
          <a:stretch>
            <a:fillRect/>
          </a:stretch>
        </p:blipFill>
        <p:spPr>
          <a:xfrm rot="5400000">
            <a:off x="711176" y="2392791"/>
            <a:ext cx="2035549" cy="2035549"/>
          </a:xfrm>
          <a:prstGeom prst="rect">
            <a:avLst/>
          </a:prstGeom>
          <a:noFill/>
          <a:ln>
            <a:noFill/>
          </a:ln>
        </p:spPr>
      </p:pic>
      <p:sp>
        <p:nvSpPr>
          <p:cNvPr id="78" name="Google Shape;78;g3abb392cea2_0_72"/>
          <p:cNvSpPr txBox="1"/>
          <p:nvPr/>
        </p:nvSpPr>
        <p:spPr>
          <a:xfrm>
            <a:off x="735326" y="5478957"/>
            <a:ext cx="7673348" cy="661240"/>
          </a:xfrm>
          <a:prstGeom prst="rect">
            <a:avLst/>
          </a:prstGeom>
          <a:noFill/>
          <a:ln>
            <a:noFill/>
          </a:ln>
        </p:spPr>
        <p:txBody>
          <a:bodyPr spcFirstLastPara="1" wrap="square" lIns="91425" tIns="91425" rIns="91425" bIns="91425" anchor="t" anchorCtr="0">
            <a:noAutofit/>
          </a:bodyPr>
          <a:lstStyle/>
          <a:p>
            <a:pPr marL="457200" lvl="0" indent="0" algn="ctr" rtl="0">
              <a:lnSpc>
                <a:spcPct val="150000"/>
              </a:lnSpc>
              <a:spcBef>
                <a:spcPts val="0"/>
              </a:spcBef>
              <a:spcAft>
                <a:spcPts val="0"/>
              </a:spcAft>
              <a:buNone/>
            </a:pPr>
            <a:r>
              <a:rPr lang="en-US" sz="3000" b="1" dirty="0">
                <a:solidFill>
                  <a:srgbClr val="154734"/>
                </a:solidFill>
                <a:latin typeface="Merriweather"/>
                <a:ea typeface="Merriweather"/>
                <a:cs typeface="Merriweather"/>
                <a:sym typeface="Merriweather"/>
              </a:rPr>
              <a:t>FRY9C vs. FRYLP vs. FRYSP</a:t>
            </a:r>
            <a:endParaRPr sz="3000" dirty="0">
              <a:solidFill>
                <a:schemeClr val="dk1"/>
              </a:solidFill>
              <a:latin typeface="Calibri"/>
              <a:ea typeface="Calibri"/>
              <a:cs typeface="Calibri"/>
              <a:sym typeface="Calibri"/>
            </a:endParaRPr>
          </a:p>
        </p:txBody>
      </p:sp>
      <p:sp>
        <p:nvSpPr>
          <p:cNvPr id="79" name="Google Shape;79;g3abb392cea2_0_72"/>
          <p:cNvSpPr txBox="1">
            <a:spLocks noGrp="1"/>
          </p:cNvSpPr>
          <p:nvPr>
            <p:ph type="title"/>
          </p:nvPr>
        </p:nvSpPr>
        <p:spPr>
          <a:xfrm>
            <a:off x="457350" y="138700"/>
            <a:ext cx="8265300" cy="678000"/>
          </a:xfrm>
          <a:prstGeom prst="rect">
            <a:avLst/>
          </a:prstGeom>
        </p:spPr>
        <p:txBody>
          <a:bodyPr spcFirstLastPara="1" wrap="square" lIns="91425" tIns="45700" rIns="91425" bIns="45700" anchor="ctr" anchorCtr="0">
            <a:noAutofit/>
          </a:bodyPr>
          <a:lstStyle/>
          <a:p>
            <a:pPr marL="457200" lvl="0" indent="0" algn="ctr" rtl="0">
              <a:lnSpc>
                <a:spcPct val="150000"/>
              </a:lnSpc>
              <a:spcBef>
                <a:spcPts val="0"/>
              </a:spcBef>
              <a:spcAft>
                <a:spcPts val="0"/>
              </a:spcAft>
              <a:buNone/>
            </a:pPr>
            <a:r>
              <a:rPr lang="en-US" dirty="0">
                <a:latin typeface="Merriweather"/>
                <a:ea typeface="Merriweather"/>
                <a:cs typeface="Merriweather"/>
                <a:sym typeface="Merriweather"/>
              </a:rPr>
              <a:t>Methods: Finding the Signal</a:t>
            </a:r>
            <a:endParaRPr dirty="0">
              <a:latin typeface="Merriweather"/>
              <a:ea typeface="Merriweather"/>
              <a:cs typeface="Merriweather"/>
              <a:sym typeface="Merriweather"/>
            </a:endParaRPr>
          </a:p>
        </p:txBody>
      </p:sp>
      <p:graphicFrame>
        <p:nvGraphicFramePr>
          <p:cNvPr id="3" name="Table 2">
            <a:extLst>
              <a:ext uri="{FF2B5EF4-FFF2-40B4-BE49-F238E27FC236}">
                <a16:creationId xmlns:a16="http://schemas.microsoft.com/office/drawing/2014/main" id="{C89EA479-523B-2C1F-2B16-A040EA547FC1}"/>
              </a:ext>
            </a:extLst>
          </p:cNvPr>
          <p:cNvGraphicFramePr>
            <a:graphicFrameLocks noGrp="1"/>
          </p:cNvGraphicFramePr>
          <p:nvPr/>
        </p:nvGraphicFramePr>
        <p:xfrm>
          <a:off x="5145252" y="4311592"/>
          <a:ext cx="2750608" cy="1167365"/>
        </p:xfrm>
        <a:graphic>
          <a:graphicData uri="http://schemas.openxmlformats.org/drawingml/2006/table">
            <a:tbl>
              <a:tblPr firstRow="1" bandRow="1">
                <a:tableStyleId>{1E171933-4619-4E11-9A3F-F7608DF75F80}</a:tableStyleId>
              </a:tblPr>
              <a:tblGrid>
                <a:gridCol w="1375304">
                  <a:extLst>
                    <a:ext uri="{9D8B030D-6E8A-4147-A177-3AD203B41FA5}">
                      <a16:colId xmlns:a16="http://schemas.microsoft.com/office/drawing/2014/main" val="3276907546"/>
                    </a:ext>
                  </a:extLst>
                </a:gridCol>
                <a:gridCol w="1375304">
                  <a:extLst>
                    <a:ext uri="{9D8B030D-6E8A-4147-A177-3AD203B41FA5}">
                      <a16:colId xmlns:a16="http://schemas.microsoft.com/office/drawing/2014/main" val="3243760096"/>
                    </a:ext>
                  </a:extLst>
                </a:gridCol>
              </a:tblGrid>
              <a:tr h="233473">
                <a:tc>
                  <a:txBody>
                    <a:bodyPr/>
                    <a:lstStyle/>
                    <a:p>
                      <a:pPr algn="l" fontAlgn="b">
                        <a:buNone/>
                      </a:pPr>
                      <a:r>
                        <a:rPr lang="en-US" sz="1100" b="1" u="none" strike="noStrike" dirty="0" err="1">
                          <a:solidFill>
                            <a:srgbClr val="000000"/>
                          </a:solidFill>
                          <a:effectLst/>
                          <a:latin typeface="Merriweather" panose="00000500000000000000" pitchFamily="2" charset="0"/>
                        </a:rPr>
                        <a:t>Original_Code</a:t>
                      </a:r>
                      <a:endParaRPr lang="en-US" sz="1100" b="1" i="0" u="none" strike="noStrike" dirty="0">
                        <a:solidFill>
                          <a:srgbClr val="000000"/>
                        </a:solidFill>
                        <a:effectLst/>
                        <a:latin typeface="Merriweather" panose="00000500000000000000" pitchFamily="2" charset="0"/>
                      </a:endParaRPr>
                    </a:p>
                  </a:txBody>
                  <a:tcPr marT="7620" marB="0" anchor="ctr"/>
                </a:tc>
                <a:tc>
                  <a:txBody>
                    <a:bodyPr/>
                    <a:lstStyle/>
                    <a:p>
                      <a:pPr algn="l" fontAlgn="b">
                        <a:buNone/>
                      </a:pPr>
                      <a:r>
                        <a:rPr lang="en-US" sz="1100" b="1" u="none" strike="noStrike" dirty="0">
                          <a:solidFill>
                            <a:srgbClr val="000000"/>
                          </a:solidFill>
                          <a:effectLst/>
                          <a:latin typeface="Merriweather" panose="00000500000000000000" pitchFamily="2" charset="0"/>
                        </a:rPr>
                        <a:t>Feature</a:t>
                      </a:r>
                      <a:endParaRPr lang="en-US" sz="1100" b="1" i="0" u="none" strike="noStrike" dirty="0">
                        <a:solidFill>
                          <a:srgbClr val="000000"/>
                        </a:solidFill>
                        <a:effectLst/>
                        <a:latin typeface="Merriweather" panose="00000500000000000000" pitchFamily="2" charset="0"/>
                      </a:endParaRPr>
                    </a:p>
                  </a:txBody>
                  <a:tcPr marT="7620" marB="0" anchor="ctr"/>
                </a:tc>
                <a:extLst>
                  <a:ext uri="{0D108BD9-81ED-4DB2-BD59-A6C34878D82A}">
                    <a16:rowId xmlns:a16="http://schemas.microsoft.com/office/drawing/2014/main" val="3016525245"/>
                  </a:ext>
                </a:extLst>
              </a:tr>
              <a:tr h="233473">
                <a:tc>
                  <a:txBody>
                    <a:bodyPr/>
                    <a:lstStyle/>
                    <a:p>
                      <a:pPr algn="l" fontAlgn="b">
                        <a:buNone/>
                      </a:pPr>
                      <a:r>
                        <a:rPr lang="en-US" sz="1100" b="0" u="none" strike="noStrike" dirty="0">
                          <a:solidFill>
                            <a:srgbClr val="000000"/>
                          </a:solidFill>
                          <a:effectLst/>
                          <a:latin typeface="Merriweather" panose="00000500000000000000" pitchFamily="2" charset="0"/>
                        </a:rPr>
                        <a:t>RSSD9001</a:t>
                      </a:r>
                      <a:endParaRPr lang="en-US" sz="1100" b="0" i="0" u="none" strike="noStrike" dirty="0">
                        <a:solidFill>
                          <a:srgbClr val="000000"/>
                        </a:solidFill>
                        <a:effectLst/>
                        <a:latin typeface="Merriweather" panose="00000500000000000000" pitchFamily="2" charset="0"/>
                      </a:endParaRPr>
                    </a:p>
                  </a:txBody>
                  <a:tcPr marT="7620" marB="0" anchor="ctr"/>
                </a:tc>
                <a:tc>
                  <a:txBody>
                    <a:bodyPr/>
                    <a:lstStyle/>
                    <a:p>
                      <a:pPr algn="l" fontAlgn="b">
                        <a:buNone/>
                      </a:pPr>
                      <a:r>
                        <a:rPr lang="en-US" sz="1100" b="0" u="none" strike="noStrike" dirty="0">
                          <a:solidFill>
                            <a:srgbClr val="000000"/>
                          </a:solidFill>
                          <a:effectLst/>
                          <a:latin typeface="Merriweather" panose="00000500000000000000" pitchFamily="2" charset="0"/>
                        </a:rPr>
                        <a:t>ID</a:t>
                      </a:r>
                      <a:endParaRPr lang="en-US" sz="1100" b="0" i="0" u="none" strike="noStrike" dirty="0">
                        <a:solidFill>
                          <a:srgbClr val="000000"/>
                        </a:solidFill>
                        <a:effectLst/>
                        <a:latin typeface="Merriweather" panose="00000500000000000000" pitchFamily="2" charset="0"/>
                      </a:endParaRPr>
                    </a:p>
                  </a:txBody>
                  <a:tcPr marT="7620" marB="0" anchor="ctr"/>
                </a:tc>
                <a:extLst>
                  <a:ext uri="{0D108BD9-81ED-4DB2-BD59-A6C34878D82A}">
                    <a16:rowId xmlns:a16="http://schemas.microsoft.com/office/drawing/2014/main" val="3090670998"/>
                  </a:ext>
                </a:extLst>
              </a:tr>
              <a:tr h="233473">
                <a:tc>
                  <a:txBody>
                    <a:bodyPr/>
                    <a:lstStyle/>
                    <a:p>
                      <a:pPr algn="l" fontAlgn="b">
                        <a:buNone/>
                      </a:pPr>
                      <a:r>
                        <a:rPr lang="en-US" sz="1100" b="0" u="none" strike="noStrike" dirty="0">
                          <a:solidFill>
                            <a:srgbClr val="000000"/>
                          </a:solidFill>
                          <a:effectLst/>
                          <a:latin typeface="Merriweather" panose="00000500000000000000" pitchFamily="2" charset="0"/>
                        </a:rPr>
                        <a:t>BHCK4107</a:t>
                      </a:r>
                      <a:endParaRPr lang="en-US" sz="1100" b="0" i="0" u="none" strike="noStrike" dirty="0">
                        <a:solidFill>
                          <a:srgbClr val="000000"/>
                        </a:solidFill>
                        <a:effectLst/>
                        <a:latin typeface="Merriweather" panose="00000500000000000000" pitchFamily="2" charset="0"/>
                      </a:endParaRPr>
                    </a:p>
                  </a:txBody>
                  <a:tcPr marT="7620" marB="0" anchor="ctr"/>
                </a:tc>
                <a:tc rowSpan="3">
                  <a:txBody>
                    <a:bodyPr/>
                    <a:lstStyle/>
                    <a:p>
                      <a:pPr algn="l" fontAlgn="b">
                        <a:buNone/>
                      </a:pPr>
                      <a:r>
                        <a:rPr lang="en-US" sz="1100" b="0" u="none" strike="noStrike" dirty="0">
                          <a:solidFill>
                            <a:srgbClr val="000000"/>
                          </a:solidFill>
                          <a:effectLst/>
                          <a:latin typeface="Merriweather" panose="00000500000000000000" pitchFamily="2" charset="0"/>
                        </a:rPr>
                        <a:t>REVENUE</a:t>
                      </a:r>
                      <a:endParaRPr lang="en-US" sz="1100" b="0" i="0" u="none" strike="noStrike" dirty="0">
                        <a:solidFill>
                          <a:srgbClr val="000000"/>
                        </a:solidFill>
                        <a:effectLst/>
                        <a:latin typeface="Merriweather" panose="00000500000000000000" pitchFamily="2" charset="0"/>
                      </a:endParaRPr>
                    </a:p>
                  </a:txBody>
                  <a:tcPr marT="7620" marB="0" anchor="ctr"/>
                </a:tc>
                <a:extLst>
                  <a:ext uri="{0D108BD9-81ED-4DB2-BD59-A6C34878D82A}">
                    <a16:rowId xmlns:a16="http://schemas.microsoft.com/office/drawing/2014/main" val="1214947844"/>
                  </a:ext>
                </a:extLst>
              </a:tr>
              <a:tr h="233473">
                <a:tc>
                  <a:txBody>
                    <a:bodyPr/>
                    <a:lstStyle/>
                    <a:p>
                      <a:pPr algn="l" fontAlgn="b">
                        <a:buNone/>
                      </a:pPr>
                      <a:r>
                        <a:rPr lang="en-US" sz="1100" b="0" u="none" strike="noStrike" dirty="0">
                          <a:solidFill>
                            <a:srgbClr val="000000"/>
                          </a:solidFill>
                          <a:effectLst/>
                          <a:latin typeface="Merriweather" panose="00000500000000000000" pitchFamily="2" charset="0"/>
                        </a:rPr>
                        <a:t>BHCK4079</a:t>
                      </a:r>
                      <a:endParaRPr lang="en-US" sz="1100" b="0" i="0" u="none" strike="noStrike" dirty="0">
                        <a:solidFill>
                          <a:srgbClr val="000000"/>
                        </a:solidFill>
                        <a:effectLst/>
                        <a:latin typeface="Merriweather" panose="00000500000000000000" pitchFamily="2" charset="0"/>
                      </a:endParaRPr>
                    </a:p>
                  </a:txBody>
                  <a:tcPr marT="7620" marB="0" anchor="ctr">
                    <a:solidFill>
                      <a:srgbClr val="FFFFFF"/>
                    </a:solidFill>
                  </a:tcPr>
                </a:tc>
                <a:tc v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27967882"/>
                  </a:ext>
                </a:extLst>
              </a:tr>
              <a:tr h="233473">
                <a:tc>
                  <a:txBody>
                    <a:bodyPr/>
                    <a:lstStyle/>
                    <a:p>
                      <a:pPr algn="l" fontAlgn="b">
                        <a:buNone/>
                      </a:pPr>
                      <a:r>
                        <a:rPr lang="en-US" sz="1100" b="0" u="none" strike="noStrike" dirty="0">
                          <a:solidFill>
                            <a:srgbClr val="000000"/>
                          </a:solidFill>
                          <a:effectLst/>
                          <a:latin typeface="Merriweather" panose="00000500000000000000" pitchFamily="2" charset="0"/>
                        </a:rPr>
                        <a:t>BHCK3521</a:t>
                      </a:r>
                      <a:endParaRPr lang="en-US" sz="1100" b="0" i="0" u="none" strike="noStrike" dirty="0">
                        <a:solidFill>
                          <a:srgbClr val="000000"/>
                        </a:solidFill>
                        <a:effectLst/>
                        <a:latin typeface="Merriweather" panose="00000500000000000000" pitchFamily="2" charset="0"/>
                      </a:endParaRPr>
                    </a:p>
                  </a:txBody>
                  <a:tcPr marT="7620" marB="0" anchor="ctr"/>
                </a:tc>
                <a:tc v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584052928"/>
                  </a:ext>
                </a:extLst>
              </a:tr>
            </a:tbl>
          </a:graphicData>
        </a:graphic>
      </p:graphicFrame>
      <p:pic>
        <p:nvPicPr>
          <p:cNvPr id="5" name="Google Shape;67;g3aba591d317_1_31" title="Screen Shot 2025-11-30 at 7.04.57 PM.png">
            <a:extLst>
              <a:ext uri="{FF2B5EF4-FFF2-40B4-BE49-F238E27FC236}">
                <a16:creationId xmlns:a16="http://schemas.microsoft.com/office/drawing/2014/main" id="{F2FF6F4B-A653-436F-99F2-F610D4A8356C}"/>
              </a:ext>
            </a:extLst>
          </p:cNvPr>
          <p:cNvPicPr preferRelativeResize="0"/>
          <p:nvPr/>
        </p:nvPicPr>
        <p:blipFill>
          <a:blip r:embed="rId6">
            <a:alphaModFix/>
          </a:blip>
          <a:srcRect l="1" r="65865"/>
          <a:stretch>
            <a:fillRect/>
          </a:stretch>
        </p:blipFill>
        <p:spPr>
          <a:xfrm>
            <a:off x="5145253" y="1176459"/>
            <a:ext cx="2750608" cy="1362075"/>
          </a:xfrm>
          <a:prstGeom prst="rect">
            <a:avLst/>
          </a:prstGeom>
          <a:noFill/>
          <a:ln>
            <a:noFill/>
          </a:ln>
        </p:spPr>
      </p:pic>
      <p:pic>
        <p:nvPicPr>
          <p:cNvPr id="6" name="Google Shape;77;g3abb392cea2_0_72">
            <a:extLst>
              <a:ext uri="{FF2B5EF4-FFF2-40B4-BE49-F238E27FC236}">
                <a16:creationId xmlns:a16="http://schemas.microsoft.com/office/drawing/2014/main" id="{40E3F72B-E4E3-54B6-9A7B-24AFABDF0F63}"/>
              </a:ext>
            </a:extLst>
          </p:cNvPr>
          <p:cNvPicPr preferRelativeResize="0"/>
          <p:nvPr/>
        </p:nvPicPr>
        <p:blipFill>
          <a:blip r:embed="rId5">
            <a:alphaModFix/>
          </a:blip>
          <a:stretch>
            <a:fillRect/>
          </a:stretch>
        </p:blipFill>
        <p:spPr>
          <a:xfrm rot="5400000">
            <a:off x="5502782" y="2392791"/>
            <a:ext cx="2035549" cy="20355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g3aba591d317_1_43"/>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pic>
        <p:nvPicPr>
          <p:cNvPr id="4" name="Picture 3">
            <a:extLst>
              <a:ext uri="{FF2B5EF4-FFF2-40B4-BE49-F238E27FC236}">
                <a16:creationId xmlns:a16="http://schemas.microsoft.com/office/drawing/2014/main" id="{4DAAC812-234A-0034-8A43-C372C54A6533}"/>
              </a:ext>
            </a:extLst>
          </p:cNvPr>
          <p:cNvPicPr>
            <a:picLocks noChangeAspect="1"/>
          </p:cNvPicPr>
          <p:nvPr/>
        </p:nvPicPr>
        <p:blipFill>
          <a:blip r:embed="rId3"/>
          <a:stretch>
            <a:fillRect/>
          </a:stretch>
        </p:blipFill>
        <p:spPr>
          <a:xfrm>
            <a:off x="1452758" y="975837"/>
            <a:ext cx="6238484" cy="5152516"/>
          </a:xfrm>
          <a:prstGeom prst="rect">
            <a:avLst/>
          </a:prstGeom>
        </p:spPr>
      </p:pic>
      <p:sp>
        <p:nvSpPr>
          <p:cNvPr id="5" name="Rectangle 4">
            <a:extLst>
              <a:ext uri="{FF2B5EF4-FFF2-40B4-BE49-F238E27FC236}">
                <a16:creationId xmlns:a16="http://schemas.microsoft.com/office/drawing/2014/main" id="{2AE65C5D-9DFF-0649-ADF7-4789C154DD44}"/>
              </a:ext>
            </a:extLst>
          </p:cNvPr>
          <p:cNvSpPr/>
          <p:nvPr/>
        </p:nvSpPr>
        <p:spPr>
          <a:xfrm>
            <a:off x="2432369" y="6328722"/>
            <a:ext cx="516155" cy="218900"/>
          </a:xfrm>
          <a:prstGeom prst="rect">
            <a:avLst/>
          </a:prstGeom>
          <a:solidFill>
            <a:srgbClr val="FFEC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EEF73E-0F08-6849-6C24-23A5D1A18CC1}"/>
              </a:ext>
            </a:extLst>
          </p:cNvPr>
          <p:cNvSpPr txBox="1"/>
          <p:nvPr/>
        </p:nvSpPr>
        <p:spPr>
          <a:xfrm>
            <a:off x="2989385" y="6340951"/>
            <a:ext cx="2584938" cy="230832"/>
          </a:xfrm>
          <a:prstGeom prst="rect">
            <a:avLst/>
          </a:prstGeom>
          <a:noFill/>
        </p:spPr>
        <p:txBody>
          <a:bodyPr wrap="square" rtlCol="0">
            <a:spAutoFit/>
          </a:bodyPr>
          <a:lstStyle/>
          <a:p>
            <a:r>
              <a:rPr lang="en-US" sz="900" dirty="0">
                <a:latin typeface="Merriweather" panose="00000500000000000000" pitchFamily="2" charset="0"/>
              </a:rPr>
              <a:t>Duration of financial crisis (NBER) </a:t>
            </a:r>
          </a:p>
        </p:txBody>
      </p:sp>
      <p:sp>
        <p:nvSpPr>
          <p:cNvPr id="9" name="Google Shape;89;g3aba591d317_1_47">
            <a:extLst>
              <a:ext uri="{FF2B5EF4-FFF2-40B4-BE49-F238E27FC236}">
                <a16:creationId xmlns:a16="http://schemas.microsoft.com/office/drawing/2014/main" id="{BB91F800-4F82-20F3-A8F6-71AC03DAB358}"/>
              </a:ext>
            </a:extLst>
          </p:cNvPr>
          <p:cNvSpPr txBox="1">
            <a:spLocks/>
          </p:cNvSpPr>
          <p:nvPr/>
        </p:nvSpPr>
        <p:spPr>
          <a:xfrm>
            <a:off x="628650" y="180175"/>
            <a:ext cx="7886700" cy="60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50000"/>
              </a:lnSpc>
              <a:buClr>
                <a:schemeClr val="dk1"/>
              </a:buClr>
              <a:buSzPts val="1100"/>
              <a:buFont typeface="Arial"/>
              <a:buNone/>
            </a:pPr>
            <a:r>
              <a:rPr lang="en-US" dirty="0">
                <a:latin typeface="Merriweather"/>
                <a:ea typeface="Merriweather"/>
                <a:cs typeface="Merriweather"/>
                <a:sym typeface="Merriweather"/>
              </a:rPr>
              <a:t>Results: Describing 2008</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3aba591d317_1_47"/>
          <p:cNvSpPr txBox="1">
            <a:spLocks noGrp="1"/>
          </p:cNvSpPr>
          <p:nvPr>
            <p:ph type="body" idx="1"/>
          </p:nvPr>
        </p:nvSpPr>
        <p:spPr>
          <a:xfrm>
            <a:off x="628650" y="1571348"/>
            <a:ext cx="7886700" cy="4236300"/>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None/>
            </a:pPr>
            <a:endParaRPr sz="4200">
              <a:solidFill>
                <a:srgbClr val="154734"/>
              </a:solidFill>
              <a:latin typeface="Merriweather"/>
              <a:ea typeface="Merriweather"/>
              <a:cs typeface="Merriweather"/>
              <a:sym typeface="Merriweather"/>
            </a:endParaRPr>
          </a:p>
          <a:p>
            <a:pPr marL="457200" lvl="0" indent="0" algn="l" rtl="0">
              <a:lnSpc>
                <a:spcPct val="150000"/>
              </a:lnSpc>
              <a:spcBef>
                <a:spcPts val="0"/>
              </a:spcBef>
              <a:spcAft>
                <a:spcPts val="0"/>
              </a:spcAft>
              <a:buNone/>
            </a:pP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sp>
        <p:nvSpPr>
          <p:cNvPr id="89" name="Google Shape;89;g3aba591d317_1_47"/>
          <p:cNvSpPr txBox="1">
            <a:spLocks noGrp="1"/>
          </p:cNvSpPr>
          <p:nvPr>
            <p:ph type="title"/>
          </p:nvPr>
        </p:nvSpPr>
        <p:spPr>
          <a:xfrm>
            <a:off x="628650" y="180175"/>
            <a:ext cx="7886700" cy="6057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dirty="0">
                <a:latin typeface="Merriweather"/>
                <a:ea typeface="Merriweather"/>
                <a:cs typeface="Merriweather"/>
                <a:sym typeface="Merriweather"/>
              </a:rPr>
              <a:t>Results: Describing 2020</a:t>
            </a:r>
            <a:endParaRPr dirty="0"/>
          </a:p>
        </p:txBody>
      </p:sp>
      <p:pic>
        <p:nvPicPr>
          <p:cNvPr id="3" name="Picture 2" descr="A screenshot of a graph&#10;&#10;AI-generated content may be incorrect.">
            <a:extLst>
              <a:ext uri="{FF2B5EF4-FFF2-40B4-BE49-F238E27FC236}">
                <a16:creationId xmlns:a16="http://schemas.microsoft.com/office/drawing/2014/main" id="{F05D28E6-1506-3C98-B921-2FCFEFBB9057}"/>
              </a:ext>
            </a:extLst>
          </p:cNvPr>
          <p:cNvPicPr>
            <a:picLocks noChangeAspect="1"/>
          </p:cNvPicPr>
          <p:nvPr/>
        </p:nvPicPr>
        <p:blipFill>
          <a:blip r:embed="rId3"/>
          <a:stretch>
            <a:fillRect/>
          </a:stretch>
        </p:blipFill>
        <p:spPr>
          <a:xfrm>
            <a:off x="1450428" y="975837"/>
            <a:ext cx="6240814" cy="5152516"/>
          </a:xfrm>
          <a:prstGeom prst="rect">
            <a:avLst/>
          </a:prstGeom>
        </p:spPr>
      </p:pic>
      <p:sp>
        <p:nvSpPr>
          <p:cNvPr id="4" name="Rectangle 3">
            <a:extLst>
              <a:ext uri="{FF2B5EF4-FFF2-40B4-BE49-F238E27FC236}">
                <a16:creationId xmlns:a16="http://schemas.microsoft.com/office/drawing/2014/main" id="{3E899962-701B-5BAA-565E-6A46CDB3C458}"/>
              </a:ext>
            </a:extLst>
          </p:cNvPr>
          <p:cNvSpPr/>
          <p:nvPr/>
        </p:nvSpPr>
        <p:spPr>
          <a:xfrm>
            <a:off x="2432369" y="6328722"/>
            <a:ext cx="516155" cy="218900"/>
          </a:xfrm>
          <a:prstGeom prst="rect">
            <a:avLst/>
          </a:prstGeom>
          <a:solidFill>
            <a:srgbClr val="FFEC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89E8EA-19CB-4E5B-9423-BA1AB5D0CFB1}"/>
              </a:ext>
            </a:extLst>
          </p:cNvPr>
          <p:cNvSpPr txBox="1"/>
          <p:nvPr/>
        </p:nvSpPr>
        <p:spPr>
          <a:xfrm>
            <a:off x="2989385" y="6340951"/>
            <a:ext cx="2584938" cy="230832"/>
          </a:xfrm>
          <a:prstGeom prst="rect">
            <a:avLst/>
          </a:prstGeom>
          <a:noFill/>
        </p:spPr>
        <p:txBody>
          <a:bodyPr wrap="square" rtlCol="0">
            <a:spAutoFit/>
          </a:bodyPr>
          <a:lstStyle/>
          <a:p>
            <a:r>
              <a:rPr lang="en-US" sz="900" dirty="0">
                <a:latin typeface="Merriweather" panose="00000500000000000000" pitchFamily="2" charset="0"/>
              </a:rPr>
              <a:t>Duration of COVID pandemic (CDC)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4" name="Rectangle 3">
            <a:extLst>
              <a:ext uri="{FF2B5EF4-FFF2-40B4-BE49-F238E27FC236}">
                <a16:creationId xmlns:a16="http://schemas.microsoft.com/office/drawing/2014/main" id="{2DFDFA85-B5FE-8E8E-130F-DCF2FF8AE47B}"/>
              </a:ext>
            </a:extLst>
          </p:cNvPr>
          <p:cNvSpPr/>
          <p:nvPr/>
        </p:nvSpPr>
        <p:spPr>
          <a:xfrm>
            <a:off x="711198" y="1224299"/>
            <a:ext cx="8128001" cy="1507612"/>
          </a:xfrm>
          <a:prstGeom prst="rect">
            <a:avLst/>
          </a:prstGeom>
          <a:solidFill>
            <a:schemeClr val="accent6">
              <a:lumMod val="20000"/>
              <a:lumOff val="80000"/>
            </a:schemeClr>
          </a:solidFill>
          <a:ln w="38100">
            <a:solidFill>
              <a:srgbClr val="15473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Google Shape;96;g3ac719d7d2a_0_4"/>
          <p:cNvSpPr txBox="1">
            <a:spLocks noGrp="1"/>
          </p:cNvSpPr>
          <p:nvPr>
            <p:ph type="title"/>
          </p:nvPr>
        </p:nvSpPr>
        <p:spPr>
          <a:xfrm>
            <a:off x="-457050" y="138700"/>
            <a:ext cx="10058400" cy="855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700" dirty="0">
                <a:latin typeface="Merriweather"/>
                <a:ea typeface="Merriweather"/>
                <a:cs typeface="Merriweather"/>
                <a:sym typeface="Merriweather"/>
              </a:rPr>
              <a:t>Results: Predicting Bank Results</a:t>
            </a:r>
            <a:endParaRPr sz="3700" dirty="0">
              <a:latin typeface="Merriweather"/>
              <a:ea typeface="Merriweather"/>
              <a:cs typeface="Merriweather"/>
              <a:sym typeface="Merriweather"/>
            </a:endParaRPr>
          </a:p>
        </p:txBody>
      </p:sp>
      <p:sp>
        <p:nvSpPr>
          <p:cNvPr id="97" name="Google Shape;97;g3ac719d7d2a_0_4"/>
          <p:cNvSpPr txBox="1">
            <a:spLocks noGrp="1"/>
          </p:cNvSpPr>
          <p:nvPr>
            <p:ph type="body" idx="1"/>
          </p:nvPr>
        </p:nvSpPr>
        <p:spPr>
          <a:xfrm>
            <a:off x="628650" y="1228138"/>
            <a:ext cx="7886700" cy="5125923"/>
          </a:xfrm>
          <a:prstGeom prst="rect">
            <a:avLst/>
          </a:prstGeom>
        </p:spPr>
        <p:txBody>
          <a:bodyPr spcFirstLastPara="1" wrap="square" lIns="91425" tIns="45700" rIns="91425" bIns="45700" anchor="t" anchorCtr="0">
            <a:normAutofit/>
          </a:bodyPr>
          <a:lstStyle/>
          <a:p>
            <a:pPr marL="131445" lvl="0" indent="0" algn="l" rtl="0">
              <a:lnSpc>
                <a:spcPct val="120000"/>
              </a:lnSpc>
              <a:spcBef>
                <a:spcPts val="0"/>
              </a:spcBef>
              <a:spcAft>
                <a:spcPts val="0"/>
              </a:spcAft>
              <a:buSzPct val="64285"/>
              <a:buNone/>
            </a:pPr>
            <a:r>
              <a:rPr lang="en-US" b="1" dirty="0">
                <a:latin typeface="Merriweather" panose="00000500000000000000" pitchFamily="2" charset="0"/>
              </a:rPr>
              <a:t>Objective:</a:t>
            </a:r>
          </a:p>
          <a:p>
            <a:pPr marL="588645" indent="-457200">
              <a:buSzPct val="64285"/>
              <a:buFont typeface="Arial" panose="020B0604020202020204" pitchFamily="34" charset="0"/>
              <a:buChar char="•"/>
            </a:pPr>
            <a:r>
              <a:rPr lang="en-US" sz="2200" b="1" dirty="0">
                <a:latin typeface="Merriweather" panose="00000500000000000000" pitchFamily="2" charset="0"/>
              </a:rPr>
              <a:t>Identify FRY9C financial institutions disappearing or in bottom 25% in revenue growth performance</a:t>
            </a:r>
            <a:endParaRPr lang="en-US" sz="600" b="1" dirty="0">
              <a:latin typeface="Merriweather" panose="00000500000000000000" pitchFamily="2" charset="0"/>
            </a:endParaRPr>
          </a:p>
          <a:p>
            <a:pPr marL="131445" indent="0">
              <a:lnSpc>
                <a:spcPct val="120000"/>
              </a:lnSpc>
              <a:buSzPct val="64285"/>
              <a:buNone/>
            </a:pPr>
            <a:endParaRPr lang="en-US" sz="1600" b="1" dirty="0">
              <a:latin typeface="Merriweather" panose="00000500000000000000" pitchFamily="2" charset="0"/>
            </a:endParaRPr>
          </a:p>
          <a:p>
            <a:pPr marL="131445" indent="0">
              <a:lnSpc>
                <a:spcPct val="120000"/>
              </a:lnSpc>
              <a:buSzPct val="64285"/>
              <a:buNone/>
            </a:pPr>
            <a:r>
              <a:rPr lang="en-US" b="1" dirty="0">
                <a:latin typeface="Merriweather" panose="00000500000000000000" pitchFamily="2" charset="0"/>
              </a:rPr>
              <a:t>Key features : </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General Income statement metrics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Balance sheet metrics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Loans specific metrics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Reported resilience ratios</a:t>
            </a:r>
          </a:p>
          <a:p>
            <a:pPr marL="131445" indent="0">
              <a:lnSpc>
                <a:spcPct val="120000"/>
              </a:lnSpc>
              <a:buSzPct val="64285"/>
              <a:buNone/>
            </a:pPr>
            <a:r>
              <a:rPr lang="en-US" b="1" dirty="0">
                <a:latin typeface="Merriweather" panose="00000500000000000000" pitchFamily="2" charset="0"/>
              </a:rPr>
              <a:t>Case Studies:</a:t>
            </a:r>
          </a:p>
          <a:p>
            <a:pPr marL="588645" indent="-457200">
              <a:lnSpc>
                <a:spcPct val="145000"/>
              </a:lnSpc>
              <a:buSzPct val="64285"/>
              <a:buFont typeface="Arial" panose="020B0604020202020204" pitchFamily="34" charset="0"/>
              <a:buChar char="•"/>
            </a:pPr>
            <a:r>
              <a:rPr lang="en-US" sz="2000" dirty="0">
                <a:latin typeface="Merriweather" panose="00000500000000000000" pitchFamily="2" charset="0"/>
              </a:rPr>
              <a:t>Financial crises, 3</a:t>
            </a:r>
            <a:r>
              <a:rPr lang="en-US" sz="2000" baseline="30000" dirty="0">
                <a:latin typeface="Merriweather" panose="00000500000000000000" pitchFamily="2" charset="0"/>
              </a:rPr>
              <a:t>rd</a:t>
            </a:r>
            <a:r>
              <a:rPr lang="en-US" sz="2000" dirty="0">
                <a:latin typeface="Merriweather" panose="00000500000000000000" pitchFamily="2" charset="0"/>
              </a:rPr>
              <a:t> Q 2008</a:t>
            </a:r>
          </a:p>
        </p:txBody>
      </p:sp>
      <p:sp>
        <p:nvSpPr>
          <p:cNvPr id="5" name="Rectangle 4">
            <a:extLst>
              <a:ext uri="{FF2B5EF4-FFF2-40B4-BE49-F238E27FC236}">
                <a16:creationId xmlns:a16="http://schemas.microsoft.com/office/drawing/2014/main" id="{D14D7487-1C29-E851-C197-6B07643BE211}"/>
              </a:ext>
            </a:extLst>
          </p:cNvPr>
          <p:cNvSpPr/>
          <p:nvPr/>
        </p:nvSpPr>
        <p:spPr>
          <a:xfrm>
            <a:off x="5108224" y="5505264"/>
            <a:ext cx="3838215" cy="6452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latin typeface="Merriweather" panose="00000500000000000000" pitchFamily="2" charset="0"/>
              </a:rPr>
              <a:t>... also, Covid financial turmoil, 3rd Q 2021, </a:t>
            </a:r>
            <a:br>
              <a:rPr lang="en-US" i="1" dirty="0">
                <a:solidFill>
                  <a:schemeClr val="tx1"/>
                </a:solidFill>
                <a:latin typeface="Merriweather" panose="00000500000000000000" pitchFamily="2" charset="0"/>
              </a:rPr>
            </a:br>
            <a:r>
              <a:rPr lang="en-US" i="1" dirty="0">
                <a:solidFill>
                  <a:schemeClr val="tx1"/>
                </a:solidFill>
                <a:latin typeface="Merriweather" panose="00000500000000000000" pitchFamily="2" charset="0"/>
              </a:rPr>
              <a:t>bear with 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EE2AA0-2766-CC25-B178-21C49C704CF0}"/>
              </a:ext>
            </a:extLst>
          </p:cNvPr>
          <p:cNvSpPr>
            <a:spLocks noGrp="1"/>
          </p:cNvSpPr>
          <p:nvPr>
            <p:ph type="body" idx="1"/>
          </p:nvPr>
        </p:nvSpPr>
        <p:spPr>
          <a:xfrm>
            <a:off x="234315" y="1126158"/>
            <a:ext cx="8675370" cy="3501097"/>
          </a:xfrm>
        </p:spPr>
        <p:txBody>
          <a:bodyPr lIns="0" tIns="0" rIns="0" bIns="0">
            <a:normAutofit/>
          </a:bodyPr>
          <a:lstStyle/>
          <a:p>
            <a:pPr marL="588645" lvl="1" indent="0">
              <a:spcBef>
                <a:spcPts val="0"/>
              </a:spcBef>
              <a:buSzPct val="75000"/>
              <a:buNone/>
            </a:pPr>
            <a:r>
              <a:rPr lang="en-US" dirty="0">
                <a:latin typeface="Merriweather" panose="00000500000000000000" pitchFamily="2" charset="0"/>
              </a:rPr>
              <a:t>Trial 1: Financial data from prev. quarter (2</a:t>
            </a:r>
            <a:r>
              <a:rPr lang="en-US" baseline="30000" dirty="0">
                <a:latin typeface="Merriweather" panose="00000500000000000000" pitchFamily="2" charset="0"/>
              </a:rPr>
              <a:t>nd</a:t>
            </a:r>
            <a:r>
              <a:rPr lang="en-US" dirty="0">
                <a:latin typeface="Merriweather" panose="00000500000000000000" pitchFamily="2" charset="0"/>
              </a:rPr>
              <a:t> Q 2008)</a:t>
            </a:r>
          </a:p>
          <a:p>
            <a:pPr marL="114300" indent="0">
              <a:buNone/>
            </a:pPr>
            <a:endParaRPr lang="en-US" dirty="0"/>
          </a:p>
        </p:txBody>
      </p:sp>
      <p:sp>
        <p:nvSpPr>
          <p:cNvPr id="6" name="Google Shape;96;g3ac719d7d2a_0_4">
            <a:extLst>
              <a:ext uri="{FF2B5EF4-FFF2-40B4-BE49-F238E27FC236}">
                <a16:creationId xmlns:a16="http://schemas.microsoft.com/office/drawing/2014/main" id="{098E1EEA-1CF8-4165-F703-D00836141FAE}"/>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Results: Predicting Bank Results</a:t>
            </a:r>
          </a:p>
        </p:txBody>
      </p:sp>
      <p:pic>
        <p:nvPicPr>
          <p:cNvPr id="12" name="Picture 11" descr="A graph of a curve&#10;&#10;AI-generated content may be incorrect.">
            <a:extLst>
              <a:ext uri="{FF2B5EF4-FFF2-40B4-BE49-F238E27FC236}">
                <a16:creationId xmlns:a16="http://schemas.microsoft.com/office/drawing/2014/main" id="{FC9BC2DD-F1C5-8BE6-5002-487F02B7AB71}"/>
              </a:ext>
            </a:extLst>
          </p:cNvPr>
          <p:cNvPicPr>
            <a:picLocks noChangeAspect="1"/>
          </p:cNvPicPr>
          <p:nvPr/>
        </p:nvPicPr>
        <p:blipFill>
          <a:blip r:embed="rId2"/>
          <a:stretch>
            <a:fillRect/>
          </a:stretch>
        </p:blipFill>
        <p:spPr>
          <a:xfrm>
            <a:off x="1867701" y="1759208"/>
            <a:ext cx="5414905" cy="4270248"/>
          </a:xfrm>
          <a:prstGeom prst="rect">
            <a:avLst/>
          </a:prstGeom>
        </p:spPr>
      </p:pic>
    </p:spTree>
    <p:extLst>
      <p:ext uri="{BB962C8B-B14F-4D97-AF65-F5344CB8AC3E}">
        <p14:creationId xmlns:p14="http://schemas.microsoft.com/office/powerpoint/2010/main" val="2134520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C523-9044-E105-A994-FB102A5D4C5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0C7FC28-3DA3-349D-F9D6-66A57A34DED4}"/>
              </a:ext>
            </a:extLst>
          </p:cNvPr>
          <p:cNvSpPr>
            <a:spLocks noGrp="1"/>
          </p:cNvSpPr>
          <p:nvPr>
            <p:ph type="body" idx="1"/>
          </p:nvPr>
        </p:nvSpPr>
        <p:spPr>
          <a:xfrm>
            <a:off x="628650" y="1151467"/>
            <a:ext cx="7886700" cy="4656209"/>
          </a:xfrm>
        </p:spPr>
        <p:txBody>
          <a:bodyPr>
            <a:normAutofit/>
          </a:bodyPr>
          <a:lstStyle/>
          <a:p>
            <a:pPr marL="588645" lvl="1" indent="0">
              <a:spcBef>
                <a:spcPts val="0"/>
              </a:spcBef>
              <a:buSzPct val="75000"/>
              <a:buNone/>
            </a:pPr>
            <a:r>
              <a:rPr lang="en-US" dirty="0">
                <a:latin typeface="Merriweather" panose="00000500000000000000" pitchFamily="2" charset="0"/>
              </a:rPr>
              <a:t>Trial 1: Financial data from prev. quarter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2: Financial data from prev. quarter + financial growth (2, 4, 6, 8 quarters before “prev. quarter”)</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3: Financial data in 6 quarters before crisis + financial growth (2, 4, 6, 8 quarters before “6 quarters before the crisis ”)</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r>
              <a:rPr lang="en-US" dirty="0">
                <a:latin typeface="Merriweather" panose="00000500000000000000" pitchFamily="2" charset="0"/>
              </a:rPr>
              <a:t>Trial 4: Financial data in 6 quarters before crisis</a:t>
            </a:r>
          </a:p>
          <a:p>
            <a:pPr marL="588645" lvl="1" indent="0">
              <a:spcBef>
                <a:spcPts val="0"/>
              </a:spcBef>
              <a:buSzPct val="75000"/>
              <a:buNone/>
            </a:pPr>
            <a:endParaRPr lang="en-US" dirty="0">
              <a:latin typeface="Merriweather" panose="00000500000000000000" pitchFamily="2" charset="0"/>
            </a:endParaRPr>
          </a:p>
          <a:p>
            <a:pPr marL="588645" lvl="1" indent="0">
              <a:spcBef>
                <a:spcPts val="0"/>
              </a:spcBef>
              <a:buSzPct val="75000"/>
              <a:buNone/>
            </a:pPr>
            <a:endParaRPr lang="en-US" dirty="0">
              <a:latin typeface="Merriweather" panose="00000500000000000000" pitchFamily="2" charset="0"/>
            </a:endParaRPr>
          </a:p>
        </p:txBody>
      </p:sp>
      <p:sp>
        <p:nvSpPr>
          <p:cNvPr id="6" name="Google Shape;96;g3ac719d7d2a_0_4">
            <a:extLst>
              <a:ext uri="{FF2B5EF4-FFF2-40B4-BE49-F238E27FC236}">
                <a16:creationId xmlns:a16="http://schemas.microsoft.com/office/drawing/2014/main" id="{9D816DDF-0184-5804-0561-C20A65F6CCCE}"/>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Results: Predicting Bank Results</a:t>
            </a:r>
          </a:p>
        </p:txBody>
      </p:sp>
      <p:pic>
        <p:nvPicPr>
          <p:cNvPr id="4" name="Graphic 3" descr="Checkmark with solid fill">
            <a:extLst>
              <a:ext uri="{FF2B5EF4-FFF2-40B4-BE49-F238E27FC236}">
                <a16:creationId xmlns:a16="http://schemas.microsoft.com/office/drawing/2014/main" id="{D5AC82AD-B3B8-A2D9-9E3A-EBB7C0B419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7800" y="1029452"/>
            <a:ext cx="576759" cy="576759"/>
          </a:xfrm>
          <a:prstGeom prst="rect">
            <a:avLst/>
          </a:prstGeom>
        </p:spPr>
      </p:pic>
      <p:pic>
        <p:nvPicPr>
          <p:cNvPr id="7" name="Graphic 6" descr="Question Mark with solid fill">
            <a:extLst>
              <a:ext uri="{FF2B5EF4-FFF2-40B4-BE49-F238E27FC236}">
                <a16:creationId xmlns:a16="http://schemas.microsoft.com/office/drawing/2014/main" id="{E1887DB5-5B2C-C42B-A343-4999DD8E1A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3858" y="1922113"/>
            <a:ext cx="687003" cy="687003"/>
          </a:xfrm>
          <a:prstGeom prst="rect">
            <a:avLst/>
          </a:prstGeom>
        </p:spPr>
      </p:pic>
      <p:pic>
        <p:nvPicPr>
          <p:cNvPr id="8" name="Graphic 7" descr="Question Mark with solid fill">
            <a:extLst>
              <a:ext uri="{FF2B5EF4-FFF2-40B4-BE49-F238E27FC236}">
                <a16:creationId xmlns:a16="http://schemas.microsoft.com/office/drawing/2014/main" id="{358F4EDE-2330-6ABB-32BB-C55C3D6FF5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3858" y="3288700"/>
            <a:ext cx="687003" cy="687003"/>
          </a:xfrm>
          <a:prstGeom prst="rect">
            <a:avLst/>
          </a:prstGeom>
        </p:spPr>
      </p:pic>
      <p:pic>
        <p:nvPicPr>
          <p:cNvPr id="9" name="Graphic 8" descr="Question Mark with solid fill">
            <a:extLst>
              <a:ext uri="{FF2B5EF4-FFF2-40B4-BE49-F238E27FC236}">
                <a16:creationId xmlns:a16="http://schemas.microsoft.com/office/drawing/2014/main" id="{8B775F64-EB46-8F36-7B01-E0E189F356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3858" y="4728574"/>
            <a:ext cx="687003" cy="687003"/>
          </a:xfrm>
          <a:prstGeom prst="rect">
            <a:avLst/>
          </a:prstGeom>
        </p:spPr>
      </p:pic>
    </p:spTree>
    <p:extLst>
      <p:ext uri="{BB962C8B-B14F-4D97-AF65-F5344CB8AC3E}">
        <p14:creationId xmlns:p14="http://schemas.microsoft.com/office/powerpoint/2010/main" val="3856555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2B017-428A-7839-36E9-F65320ADFF4E}"/>
            </a:ext>
          </a:extLst>
        </p:cNvPr>
        <p:cNvGrpSpPr/>
        <p:nvPr/>
      </p:nvGrpSpPr>
      <p:grpSpPr>
        <a:xfrm>
          <a:off x="0" y="0"/>
          <a:ext cx="0" cy="0"/>
          <a:chOff x="0" y="0"/>
          <a:chExt cx="0" cy="0"/>
        </a:xfrm>
      </p:grpSpPr>
      <p:pic>
        <p:nvPicPr>
          <p:cNvPr id="43" name="Picture 42">
            <a:extLst>
              <a:ext uri="{FF2B5EF4-FFF2-40B4-BE49-F238E27FC236}">
                <a16:creationId xmlns:a16="http://schemas.microsoft.com/office/drawing/2014/main" id="{25AB4997-2D71-3E69-729D-029B044430FF}"/>
              </a:ext>
            </a:extLst>
          </p:cNvPr>
          <p:cNvPicPr>
            <a:picLocks noChangeAspect="1"/>
          </p:cNvPicPr>
          <p:nvPr/>
        </p:nvPicPr>
        <p:blipFill>
          <a:blip r:embed="rId3"/>
          <a:stretch>
            <a:fillRect/>
          </a:stretch>
        </p:blipFill>
        <p:spPr>
          <a:xfrm>
            <a:off x="388382" y="935114"/>
            <a:ext cx="3524906" cy="2779776"/>
          </a:xfrm>
          <a:prstGeom prst="rect">
            <a:avLst/>
          </a:prstGeom>
        </p:spPr>
      </p:pic>
      <p:pic>
        <p:nvPicPr>
          <p:cNvPr id="42" name="Picture 41">
            <a:extLst>
              <a:ext uri="{FF2B5EF4-FFF2-40B4-BE49-F238E27FC236}">
                <a16:creationId xmlns:a16="http://schemas.microsoft.com/office/drawing/2014/main" id="{64E29094-6B27-B13C-56DA-5EFDE36C9CF1}"/>
              </a:ext>
            </a:extLst>
          </p:cNvPr>
          <p:cNvPicPr>
            <a:picLocks noChangeAspect="1"/>
          </p:cNvPicPr>
          <p:nvPr/>
        </p:nvPicPr>
        <p:blipFill>
          <a:blip r:embed="rId4"/>
          <a:stretch>
            <a:fillRect/>
          </a:stretch>
        </p:blipFill>
        <p:spPr>
          <a:xfrm>
            <a:off x="2923408" y="3805461"/>
            <a:ext cx="3293004" cy="2596896"/>
          </a:xfrm>
          <a:prstGeom prst="rect">
            <a:avLst/>
          </a:prstGeom>
        </p:spPr>
      </p:pic>
      <p:pic>
        <p:nvPicPr>
          <p:cNvPr id="41" name="Picture 40">
            <a:extLst>
              <a:ext uri="{FF2B5EF4-FFF2-40B4-BE49-F238E27FC236}">
                <a16:creationId xmlns:a16="http://schemas.microsoft.com/office/drawing/2014/main" id="{57F6D17A-78BC-1F90-BC38-C4749FA47741}"/>
              </a:ext>
            </a:extLst>
          </p:cNvPr>
          <p:cNvPicPr>
            <a:picLocks noChangeAspect="1"/>
          </p:cNvPicPr>
          <p:nvPr/>
        </p:nvPicPr>
        <p:blipFill>
          <a:blip r:embed="rId5"/>
          <a:stretch>
            <a:fillRect/>
          </a:stretch>
        </p:blipFill>
        <p:spPr>
          <a:xfrm>
            <a:off x="5384779" y="934263"/>
            <a:ext cx="3524906" cy="2779776"/>
          </a:xfrm>
          <a:prstGeom prst="rect">
            <a:avLst/>
          </a:prstGeom>
        </p:spPr>
      </p:pic>
      <p:sp>
        <p:nvSpPr>
          <p:cNvPr id="6" name="Google Shape;96;g3ac719d7d2a_0_4">
            <a:extLst>
              <a:ext uri="{FF2B5EF4-FFF2-40B4-BE49-F238E27FC236}">
                <a16:creationId xmlns:a16="http://schemas.microsoft.com/office/drawing/2014/main" id="{F0E0B7D7-450D-62D6-4ACD-AC6FCA3BD3F6}"/>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a:latin typeface="Merriweather"/>
                <a:ea typeface="Merriweather"/>
                <a:cs typeface="Merriweather"/>
                <a:sym typeface="Merriweather"/>
              </a:rPr>
              <a:t>Results: Predicting </a:t>
            </a:r>
            <a:r>
              <a:rPr lang="en-US" sz="3700" dirty="0">
                <a:latin typeface="Merriweather"/>
                <a:ea typeface="Merriweather"/>
                <a:cs typeface="Merriweather"/>
                <a:sym typeface="Merriweather"/>
              </a:rPr>
              <a:t>Bank Results</a:t>
            </a:r>
          </a:p>
        </p:txBody>
      </p:sp>
      <p:sp>
        <p:nvSpPr>
          <p:cNvPr id="27" name="TextBox 26">
            <a:extLst>
              <a:ext uri="{FF2B5EF4-FFF2-40B4-BE49-F238E27FC236}">
                <a16:creationId xmlns:a16="http://schemas.microsoft.com/office/drawing/2014/main" id="{064DE6D8-6FF1-D40C-E8FD-67E89A159D32}"/>
              </a:ext>
            </a:extLst>
          </p:cNvPr>
          <p:cNvSpPr txBox="1"/>
          <p:nvPr/>
        </p:nvSpPr>
        <p:spPr>
          <a:xfrm>
            <a:off x="804229" y="1123701"/>
            <a:ext cx="1106424" cy="492443"/>
          </a:xfrm>
          <a:prstGeom prst="rect">
            <a:avLst/>
          </a:prstGeom>
          <a:noFill/>
        </p:spPr>
        <p:txBody>
          <a:bodyPr wrap="square" rtlCol="0">
            <a:spAutoFit/>
          </a:bodyPr>
          <a:lstStyle/>
          <a:p>
            <a:pPr lvl="1" algn="ctr"/>
            <a:r>
              <a:rPr lang="en-US" dirty="0">
                <a:solidFill>
                  <a:schemeClr val="dk1"/>
                </a:solidFill>
                <a:latin typeface="Merriweather" panose="00000500000000000000" pitchFamily="2" charset="0"/>
                <a:ea typeface="Calibri"/>
                <a:cs typeface="Calibri"/>
                <a:sym typeface="Calibri"/>
              </a:rPr>
              <a:t>Trial 2</a:t>
            </a:r>
          </a:p>
          <a:p>
            <a:pPr lvl="1" algn="ctr"/>
            <a:r>
              <a:rPr lang="en-US" sz="1100" dirty="0">
                <a:solidFill>
                  <a:schemeClr val="dk1"/>
                </a:solidFill>
                <a:latin typeface="Merriweather" panose="00000500000000000000" pitchFamily="2" charset="0"/>
                <a:ea typeface="Calibri"/>
                <a:cs typeface="Calibri"/>
                <a:sym typeface="Calibri"/>
              </a:rPr>
              <a:t>AUC: 0.5935 </a:t>
            </a:r>
          </a:p>
        </p:txBody>
      </p:sp>
      <p:sp>
        <p:nvSpPr>
          <p:cNvPr id="28" name="TextBox 27">
            <a:extLst>
              <a:ext uri="{FF2B5EF4-FFF2-40B4-BE49-F238E27FC236}">
                <a16:creationId xmlns:a16="http://schemas.microsoft.com/office/drawing/2014/main" id="{A180C587-1097-A12A-469E-5645884C80B4}"/>
              </a:ext>
            </a:extLst>
          </p:cNvPr>
          <p:cNvSpPr txBox="1"/>
          <p:nvPr/>
        </p:nvSpPr>
        <p:spPr>
          <a:xfrm>
            <a:off x="5781781" y="1123701"/>
            <a:ext cx="1106424" cy="492443"/>
          </a:xfrm>
          <a:prstGeom prst="rect">
            <a:avLst/>
          </a:prstGeom>
          <a:noFill/>
        </p:spPr>
        <p:txBody>
          <a:bodyPr wrap="square" rtlCol="0">
            <a:spAutoFit/>
          </a:bodyPr>
          <a:lstStyle/>
          <a:p>
            <a:pPr lvl="1" algn="ctr"/>
            <a:r>
              <a:rPr lang="en-US" dirty="0">
                <a:solidFill>
                  <a:schemeClr val="dk1"/>
                </a:solidFill>
                <a:latin typeface="Merriweather" panose="00000500000000000000" pitchFamily="2" charset="0"/>
                <a:ea typeface="Calibri"/>
                <a:cs typeface="Calibri"/>
                <a:sym typeface="Calibri"/>
              </a:rPr>
              <a:t>Trial 3</a:t>
            </a:r>
          </a:p>
          <a:p>
            <a:pPr lvl="1" algn="ctr"/>
            <a:r>
              <a:rPr lang="en-US" sz="1100" dirty="0">
                <a:solidFill>
                  <a:schemeClr val="dk1"/>
                </a:solidFill>
                <a:latin typeface="Merriweather" panose="00000500000000000000" pitchFamily="2" charset="0"/>
                <a:ea typeface="Calibri"/>
                <a:cs typeface="Calibri"/>
                <a:sym typeface="Calibri"/>
              </a:rPr>
              <a:t>AUC: 0.5587</a:t>
            </a:r>
          </a:p>
        </p:txBody>
      </p:sp>
      <p:sp>
        <p:nvSpPr>
          <p:cNvPr id="30" name="TextBox 29">
            <a:extLst>
              <a:ext uri="{FF2B5EF4-FFF2-40B4-BE49-F238E27FC236}">
                <a16:creationId xmlns:a16="http://schemas.microsoft.com/office/drawing/2014/main" id="{7D7C0C6A-4DBD-676C-7F19-6CACABEA1C08}"/>
              </a:ext>
            </a:extLst>
          </p:cNvPr>
          <p:cNvSpPr txBox="1"/>
          <p:nvPr/>
        </p:nvSpPr>
        <p:spPr>
          <a:xfrm>
            <a:off x="3349960" y="3953718"/>
            <a:ext cx="1106424" cy="492443"/>
          </a:xfrm>
          <a:prstGeom prst="rect">
            <a:avLst/>
          </a:prstGeom>
          <a:noFill/>
        </p:spPr>
        <p:txBody>
          <a:bodyPr wrap="square" rtlCol="0">
            <a:spAutoFit/>
          </a:bodyPr>
          <a:lstStyle/>
          <a:p>
            <a:pPr lvl="1" algn="ctr"/>
            <a:r>
              <a:rPr lang="en-US" dirty="0">
                <a:solidFill>
                  <a:schemeClr val="dk1"/>
                </a:solidFill>
                <a:latin typeface="Merriweather" panose="00000500000000000000" pitchFamily="2" charset="0"/>
                <a:ea typeface="Calibri"/>
                <a:cs typeface="Calibri"/>
                <a:sym typeface="Calibri"/>
              </a:rPr>
              <a:t>Trial 4</a:t>
            </a:r>
          </a:p>
          <a:p>
            <a:pPr lvl="1" algn="ctr"/>
            <a:r>
              <a:rPr lang="en-US" sz="1100" dirty="0">
                <a:solidFill>
                  <a:schemeClr val="dk1"/>
                </a:solidFill>
                <a:latin typeface="Merriweather" panose="00000500000000000000" pitchFamily="2" charset="0"/>
                <a:ea typeface="Calibri"/>
                <a:cs typeface="Calibri"/>
                <a:sym typeface="Calibri"/>
              </a:rPr>
              <a:t>AUC: 0.5532</a:t>
            </a:r>
          </a:p>
        </p:txBody>
      </p:sp>
    </p:spTree>
    <p:extLst>
      <p:ext uri="{BB962C8B-B14F-4D97-AF65-F5344CB8AC3E}">
        <p14:creationId xmlns:p14="http://schemas.microsoft.com/office/powerpoint/2010/main" val="3547678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2844C-D8DA-098A-AD02-5D5F555FAB4F}"/>
            </a:ext>
          </a:extLst>
        </p:cNvPr>
        <p:cNvGrpSpPr/>
        <p:nvPr/>
      </p:nvGrpSpPr>
      <p:grpSpPr>
        <a:xfrm>
          <a:off x="0" y="0"/>
          <a:ext cx="0" cy="0"/>
          <a:chOff x="0" y="0"/>
          <a:chExt cx="0" cy="0"/>
        </a:xfrm>
      </p:grpSpPr>
      <p:pic>
        <p:nvPicPr>
          <p:cNvPr id="17" name="Picture 16" descr="A graph with different colored bars&#10;&#10;AI-generated content may be incorrect.">
            <a:extLst>
              <a:ext uri="{FF2B5EF4-FFF2-40B4-BE49-F238E27FC236}">
                <a16:creationId xmlns:a16="http://schemas.microsoft.com/office/drawing/2014/main" id="{9A03BEE6-B985-D720-32A5-C10AC67E9619}"/>
              </a:ext>
            </a:extLst>
          </p:cNvPr>
          <p:cNvPicPr>
            <a:picLocks noChangeAspect="1"/>
          </p:cNvPicPr>
          <p:nvPr/>
        </p:nvPicPr>
        <p:blipFill>
          <a:blip r:embed="rId3"/>
          <a:stretch>
            <a:fillRect/>
          </a:stretch>
        </p:blipFill>
        <p:spPr>
          <a:xfrm>
            <a:off x="187541" y="1117015"/>
            <a:ext cx="8778062" cy="4535424"/>
          </a:xfrm>
          <a:prstGeom prst="rect">
            <a:avLst/>
          </a:prstGeom>
        </p:spPr>
      </p:pic>
      <p:sp>
        <p:nvSpPr>
          <p:cNvPr id="8" name="Google Shape;96;g3ac719d7d2a_0_4">
            <a:extLst>
              <a:ext uri="{FF2B5EF4-FFF2-40B4-BE49-F238E27FC236}">
                <a16:creationId xmlns:a16="http://schemas.microsoft.com/office/drawing/2014/main" id="{EC44844B-454B-5480-ACF2-0330F8054BCF}"/>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Results: Predicting Bank Results</a:t>
            </a:r>
          </a:p>
        </p:txBody>
      </p:sp>
      <p:sp>
        <p:nvSpPr>
          <p:cNvPr id="9" name="Rectangle 8">
            <a:extLst>
              <a:ext uri="{FF2B5EF4-FFF2-40B4-BE49-F238E27FC236}">
                <a16:creationId xmlns:a16="http://schemas.microsoft.com/office/drawing/2014/main" id="{AF3E791D-024E-FC00-2471-1355F21619D9}"/>
              </a:ext>
            </a:extLst>
          </p:cNvPr>
          <p:cNvSpPr/>
          <p:nvPr/>
        </p:nvSpPr>
        <p:spPr>
          <a:xfrm>
            <a:off x="1989986" y="5791927"/>
            <a:ext cx="352541" cy="199000"/>
          </a:xfrm>
          <a:prstGeom prst="rect">
            <a:avLst/>
          </a:prstGeom>
          <a:solidFill>
            <a:srgbClr val="4FA8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36188E-CAE3-D572-5ECE-E5418B444FAC}"/>
              </a:ext>
            </a:extLst>
          </p:cNvPr>
          <p:cNvSpPr/>
          <p:nvPr/>
        </p:nvSpPr>
        <p:spPr>
          <a:xfrm>
            <a:off x="5397214" y="5791927"/>
            <a:ext cx="352541" cy="199000"/>
          </a:xfrm>
          <a:prstGeom prst="rect">
            <a:avLst/>
          </a:prstGeom>
          <a:solidFill>
            <a:srgbClr val="DF81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A3F4CD5-E1EA-0388-4FAF-AEDC0D420DA3}"/>
              </a:ext>
            </a:extLst>
          </p:cNvPr>
          <p:cNvSpPr txBox="1"/>
          <p:nvPr/>
        </p:nvSpPr>
        <p:spPr>
          <a:xfrm>
            <a:off x="2394855" y="5761975"/>
            <a:ext cx="1785257" cy="261610"/>
          </a:xfrm>
          <a:prstGeom prst="rect">
            <a:avLst/>
          </a:prstGeom>
          <a:noFill/>
        </p:spPr>
        <p:txBody>
          <a:bodyPr wrap="square" rtlCol="0">
            <a:spAutoFit/>
          </a:bodyPr>
          <a:lstStyle/>
          <a:p>
            <a:r>
              <a:rPr lang="en-US" sz="1050" dirty="0">
                <a:latin typeface="Merriweather" panose="00000500000000000000" pitchFamily="2" charset="0"/>
              </a:rPr>
              <a:t> Financial crises</a:t>
            </a:r>
          </a:p>
        </p:txBody>
      </p:sp>
      <p:sp>
        <p:nvSpPr>
          <p:cNvPr id="12" name="TextBox 11">
            <a:extLst>
              <a:ext uri="{FF2B5EF4-FFF2-40B4-BE49-F238E27FC236}">
                <a16:creationId xmlns:a16="http://schemas.microsoft.com/office/drawing/2014/main" id="{F12592BE-60A7-224D-30BF-D4305EBF1E70}"/>
              </a:ext>
            </a:extLst>
          </p:cNvPr>
          <p:cNvSpPr txBox="1"/>
          <p:nvPr/>
        </p:nvSpPr>
        <p:spPr>
          <a:xfrm>
            <a:off x="5863629" y="5761975"/>
            <a:ext cx="1785257" cy="261610"/>
          </a:xfrm>
          <a:prstGeom prst="rect">
            <a:avLst/>
          </a:prstGeom>
          <a:noFill/>
        </p:spPr>
        <p:txBody>
          <a:bodyPr wrap="square" rtlCol="0">
            <a:spAutoFit/>
          </a:bodyPr>
          <a:lstStyle/>
          <a:p>
            <a:r>
              <a:rPr lang="en-US" sz="1050" dirty="0">
                <a:latin typeface="Merriweather" panose="00000500000000000000" pitchFamily="2" charset="0"/>
              </a:rPr>
              <a:t>Covid financial turmoil</a:t>
            </a:r>
          </a:p>
        </p:txBody>
      </p:sp>
      <p:cxnSp>
        <p:nvCxnSpPr>
          <p:cNvPr id="7" name="Straight Arrow Connector 6">
            <a:extLst>
              <a:ext uri="{FF2B5EF4-FFF2-40B4-BE49-F238E27FC236}">
                <a16:creationId xmlns:a16="http://schemas.microsoft.com/office/drawing/2014/main" id="{54232886-2A7F-D6E4-F269-B83A1B653A6F}"/>
              </a:ext>
            </a:extLst>
          </p:cNvPr>
          <p:cNvCxnSpPr/>
          <p:nvPr/>
        </p:nvCxnSpPr>
        <p:spPr>
          <a:xfrm>
            <a:off x="4572000" y="1673810"/>
            <a:ext cx="0" cy="4054664"/>
          </a:xfrm>
          <a:prstGeom prst="straightConnector1">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5B72D8F-24FB-E08C-19A5-AFB4D13F1299}"/>
              </a:ext>
            </a:extLst>
          </p:cNvPr>
          <p:cNvCxnSpPr>
            <a:cxnSpLocks/>
          </p:cNvCxnSpPr>
          <p:nvPr/>
        </p:nvCxnSpPr>
        <p:spPr>
          <a:xfrm rot="5400000">
            <a:off x="4680857" y="-731708"/>
            <a:ext cx="0" cy="8691531"/>
          </a:xfrm>
          <a:prstGeom prst="straightConnector1">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097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aba591d317_1_51"/>
          <p:cNvSpPr txBox="1">
            <a:spLocks noGrp="1"/>
          </p:cNvSpPr>
          <p:nvPr>
            <p:ph type="body" idx="1"/>
          </p:nvPr>
        </p:nvSpPr>
        <p:spPr>
          <a:xfrm>
            <a:off x="628650" y="1263725"/>
            <a:ext cx="7886700" cy="4543800"/>
          </a:xfrm>
          <a:prstGeom prst="rect">
            <a:avLst/>
          </a:prstGeom>
          <a:noFill/>
          <a:ln>
            <a:noFill/>
          </a:ln>
        </p:spPr>
        <p:txBody>
          <a:bodyPr spcFirstLastPara="1" wrap="square" lIns="91425" tIns="45700" rIns="91425" bIns="45700" anchor="t" anchorCtr="0">
            <a:noAutofit/>
          </a:bodyPr>
          <a:lstStyle/>
          <a:p>
            <a:pPr marL="457200" lvl="0" indent="-419100" algn="l" rtl="0">
              <a:lnSpc>
                <a:spcPct val="150000"/>
              </a:lnSpc>
              <a:spcBef>
                <a:spcPts val="0"/>
              </a:spcBef>
              <a:spcAft>
                <a:spcPts val="0"/>
              </a:spcAft>
              <a:buClr>
                <a:srgbClr val="154734"/>
              </a:buClr>
              <a:buSzPts val="3000"/>
              <a:buFont typeface="Merriweather"/>
              <a:buAutoNum type="arabicPeriod"/>
            </a:pPr>
            <a:r>
              <a:rPr lang="en-US" sz="3000" dirty="0">
                <a:solidFill>
                  <a:srgbClr val="154734"/>
                </a:solidFill>
                <a:latin typeface="Merriweather"/>
                <a:ea typeface="Merriweather"/>
                <a:cs typeface="Merriweather"/>
                <a:sym typeface="Merriweather"/>
              </a:rPr>
              <a:t>And other banks (</a:t>
            </a:r>
            <a:r>
              <a:rPr lang="en-US" sz="3000" dirty="0" err="1">
                <a:solidFill>
                  <a:srgbClr val="154734"/>
                </a:solidFill>
                <a:latin typeface="Merriweather"/>
                <a:ea typeface="Merriweather"/>
                <a:cs typeface="Merriweather"/>
                <a:sym typeface="Merriweather"/>
              </a:rPr>
              <a:t>ie</a:t>
            </a:r>
            <a:r>
              <a:rPr lang="en-US" sz="3000" dirty="0">
                <a:solidFill>
                  <a:srgbClr val="154734"/>
                </a:solidFill>
                <a:latin typeface="Merriweather"/>
                <a:ea typeface="Merriweather"/>
                <a:cs typeface="Merriweather"/>
                <a:sym typeface="Merriweather"/>
              </a:rPr>
              <a:t>. not holding banks) or financial information (</a:t>
            </a:r>
            <a:r>
              <a:rPr lang="en-US" sz="3000" dirty="0" err="1">
                <a:solidFill>
                  <a:srgbClr val="154734"/>
                </a:solidFill>
                <a:latin typeface="Merriweather"/>
                <a:ea typeface="Merriweather"/>
                <a:cs typeface="Merriweather"/>
                <a:sym typeface="Merriweather"/>
              </a:rPr>
              <a:t>ie</a:t>
            </a:r>
            <a:r>
              <a:rPr lang="en-US" sz="3000" dirty="0">
                <a:solidFill>
                  <a:srgbClr val="154734"/>
                </a:solidFill>
                <a:latin typeface="Merriweather"/>
                <a:ea typeface="Merriweather"/>
                <a:cs typeface="Merriweather"/>
                <a:sym typeface="Merriweather"/>
              </a:rPr>
              <a:t>. Basel I, II and III KPIs)?</a:t>
            </a:r>
            <a:endParaRPr sz="3000" dirty="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dirty="0">
                <a:solidFill>
                  <a:srgbClr val="154734"/>
                </a:solidFill>
                <a:latin typeface="Merriweather"/>
                <a:ea typeface="Merriweather"/>
                <a:cs typeface="Merriweather"/>
                <a:sym typeface="Merriweather"/>
              </a:rPr>
              <a:t>Heterogenous banks driving inter-folds differences? </a:t>
            </a:r>
            <a:endParaRPr sz="3000" dirty="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dirty="0">
                <a:solidFill>
                  <a:srgbClr val="154734"/>
                </a:solidFill>
                <a:latin typeface="Merriweather"/>
                <a:ea typeface="Merriweather"/>
                <a:cs typeface="Merriweather"/>
                <a:sym typeface="Merriweather"/>
              </a:rPr>
              <a:t>Endogenous &amp; exogenous crises require different causal assumptions?</a:t>
            </a:r>
            <a:endParaRPr sz="3000" dirty="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dirty="0"/>
          </a:p>
        </p:txBody>
      </p:sp>
      <p:sp>
        <p:nvSpPr>
          <p:cNvPr id="133" name="Google Shape;133;g3aba591d317_1_51"/>
          <p:cNvSpPr txBox="1">
            <a:spLocks noGrp="1"/>
          </p:cNvSpPr>
          <p:nvPr>
            <p:ph type="title"/>
          </p:nvPr>
        </p:nvSpPr>
        <p:spPr>
          <a:xfrm>
            <a:off x="628650" y="154100"/>
            <a:ext cx="7886700" cy="6627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sz="3400">
                <a:latin typeface="Merriweather"/>
                <a:ea typeface="Merriweather"/>
                <a:cs typeface="Merriweather"/>
                <a:sym typeface="Merriweather"/>
              </a:rPr>
              <a:t>Discussion, Limitations, Next Steps</a:t>
            </a:r>
            <a:endParaRPr sz="3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4"/>
          <p:cNvSpPr txBox="1">
            <a:spLocks noGrp="1"/>
          </p:cNvSpPr>
          <p:nvPr>
            <p:ph type="ctrTitle"/>
          </p:nvPr>
        </p:nvSpPr>
        <p:spPr>
          <a:xfrm>
            <a:off x="628650" y="1122363"/>
            <a:ext cx="7886700" cy="92624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6000"/>
              <a:buFont typeface="Libre Franklin Medium"/>
              <a:buNone/>
            </a:pPr>
            <a:r>
              <a:rPr lang="en-US"/>
              <a:t>Thank you!</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37"/>
        <p:cNvGrpSpPr/>
        <p:nvPr/>
      </p:nvGrpSpPr>
      <p:grpSpPr>
        <a:xfrm>
          <a:off x="0" y="0"/>
          <a:ext cx="0" cy="0"/>
          <a:chOff x="0" y="0"/>
          <a:chExt cx="0" cy="0"/>
        </a:xfrm>
      </p:grpSpPr>
      <p:sp>
        <p:nvSpPr>
          <p:cNvPr id="138" name="Google Shape;138;g3ac8933d992_0_6"/>
          <p:cNvSpPr txBox="1">
            <a:spLocks noGrp="1"/>
          </p:cNvSpPr>
          <p:nvPr>
            <p:ph type="body" idx="1"/>
          </p:nvPr>
        </p:nvSpPr>
        <p:spPr>
          <a:xfrm>
            <a:off x="628650" y="1263725"/>
            <a:ext cx="7886700" cy="4543800"/>
          </a:xfrm>
          <a:prstGeom prst="rect">
            <a:avLst/>
          </a:prstGeom>
          <a:noFill/>
          <a:ln>
            <a:noFill/>
          </a:ln>
        </p:spPr>
        <p:txBody>
          <a:bodyPr spcFirstLastPara="1" wrap="square" lIns="91425" tIns="45700" rIns="91425" bIns="45700" anchor="t" anchorCtr="0">
            <a:noAutofit/>
          </a:bodyPr>
          <a:lstStyle/>
          <a:p>
            <a:pPr marL="457200" lvl="0" indent="-419100" algn="l" rtl="0">
              <a:lnSpc>
                <a:spcPct val="150000"/>
              </a:lnSpc>
              <a:spcBef>
                <a:spcPts val="0"/>
              </a:spcBef>
              <a:spcAft>
                <a:spcPts val="0"/>
              </a:spcAft>
              <a:buClr>
                <a:srgbClr val="154734"/>
              </a:buClr>
              <a:buSzPts val="3000"/>
              <a:buFont typeface="Merriweather"/>
              <a:buAutoNum type="arabicPeriod"/>
            </a:pPr>
            <a:r>
              <a:rPr lang="en-US" sz="3000">
                <a:solidFill>
                  <a:srgbClr val="154734"/>
                </a:solidFill>
                <a:latin typeface="Merriweather"/>
                <a:ea typeface="Merriweather"/>
                <a:cs typeface="Merriweather"/>
                <a:sym typeface="Merriweather"/>
              </a:rPr>
              <a:t>Intro: Do Balance Sheets Hold The Secret?</a:t>
            </a:r>
            <a:endParaRPr sz="300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a:solidFill>
                  <a:srgbClr val="154734"/>
                </a:solidFill>
                <a:latin typeface="Merriweather"/>
                <a:ea typeface="Merriweather"/>
                <a:cs typeface="Merriweather"/>
                <a:sym typeface="Merriweather"/>
              </a:rPr>
              <a:t>Background: What Even Is a Y9C?</a:t>
            </a:r>
            <a:endParaRPr sz="3000">
              <a:solidFill>
                <a:srgbClr val="154734"/>
              </a:solidFill>
              <a:latin typeface="Merriweather"/>
              <a:ea typeface="Merriweather"/>
              <a:cs typeface="Merriweather"/>
              <a:sym typeface="Merriweather"/>
            </a:endParaRPr>
          </a:p>
          <a:p>
            <a:pPr marL="457200" lvl="0" indent="-419100" algn="l" rtl="0">
              <a:lnSpc>
                <a:spcPct val="150000"/>
              </a:lnSpc>
              <a:spcBef>
                <a:spcPts val="0"/>
              </a:spcBef>
              <a:spcAft>
                <a:spcPts val="0"/>
              </a:spcAft>
              <a:buClr>
                <a:srgbClr val="154734"/>
              </a:buClr>
              <a:buSzPts val="3000"/>
              <a:buFont typeface="Merriweather"/>
              <a:buAutoNum type="arabicPeriod"/>
            </a:pPr>
            <a:r>
              <a:rPr lang="en-US" sz="3000">
                <a:solidFill>
                  <a:srgbClr val="154734"/>
                </a:solidFill>
                <a:latin typeface="Merriweather"/>
                <a:ea typeface="Merriweather"/>
                <a:cs typeface="Merriweather"/>
                <a:sym typeface="Merriweather"/>
              </a:rPr>
              <a:t>Methods: Find</a:t>
            </a:r>
            <a:endParaRPr sz="3000">
              <a:solidFill>
                <a:srgbClr val="154734"/>
              </a:solidFill>
              <a:latin typeface="Merriweather"/>
              <a:ea typeface="Merriweather"/>
              <a:cs typeface="Merriweather"/>
              <a:sym typeface="Merriweather"/>
            </a:endParaRPr>
          </a:p>
          <a:p>
            <a:pPr marL="457200" lvl="0" indent="0" algn="l" rtl="0">
              <a:lnSpc>
                <a:spcPct val="90000"/>
              </a:lnSpc>
              <a:spcBef>
                <a:spcPts val="1200"/>
              </a:spcBef>
              <a:spcAft>
                <a:spcPts val="1200"/>
              </a:spcAft>
              <a:buSzPts val="1800"/>
              <a:buNone/>
            </a:pPr>
            <a:endParaRPr sz="3000"/>
          </a:p>
        </p:txBody>
      </p:sp>
      <p:sp>
        <p:nvSpPr>
          <p:cNvPr id="139" name="Google Shape;139;g3ac8933d992_0_6"/>
          <p:cNvSpPr txBox="1">
            <a:spLocks noGrp="1"/>
          </p:cNvSpPr>
          <p:nvPr>
            <p:ph type="title"/>
          </p:nvPr>
        </p:nvSpPr>
        <p:spPr>
          <a:xfrm>
            <a:off x="628650" y="154100"/>
            <a:ext cx="7886700" cy="6627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sz="3400">
                <a:latin typeface="Merriweather"/>
                <a:ea typeface="Merriweather"/>
                <a:cs typeface="Merriweather"/>
                <a:sym typeface="Merriweather"/>
              </a:rPr>
              <a:t>Discussion, Limitations, Next Steps</a:t>
            </a:r>
            <a:endParaRPr sz="3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32"/>
        <p:cNvGrpSpPr/>
        <p:nvPr/>
      </p:nvGrpSpPr>
      <p:grpSpPr>
        <a:xfrm>
          <a:off x="0" y="0"/>
          <a:ext cx="0" cy="0"/>
          <a:chOff x="0" y="0"/>
          <a:chExt cx="0" cy="0"/>
        </a:xfrm>
      </p:grpSpPr>
      <p:sp>
        <p:nvSpPr>
          <p:cNvPr id="33" name="Google Shape;33;g3aba591d317_1_5"/>
          <p:cNvSpPr txBox="1">
            <a:spLocks noGrp="1"/>
          </p:cNvSpPr>
          <p:nvPr>
            <p:ph type="title"/>
          </p:nvPr>
        </p:nvSpPr>
        <p:spPr>
          <a:xfrm>
            <a:off x="628650" y="365125"/>
            <a:ext cx="7886700" cy="10434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34" name="Google Shape;34;g3aba591d317_1_5"/>
          <p:cNvSpPr txBox="1">
            <a:spLocks noGrp="1"/>
          </p:cNvSpPr>
          <p:nvPr>
            <p:ph type="body" idx="1"/>
          </p:nvPr>
        </p:nvSpPr>
        <p:spPr>
          <a:xfrm>
            <a:off x="628650" y="1571348"/>
            <a:ext cx="7886700" cy="4236300"/>
          </a:xfrm>
          <a:prstGeom prst="rect">
            <a:avLst/>
          </a:prstGeom>
        </p:spPr>
        <p:txBody>
          <a:bodyPr spcFirstLastPara="1" wrap="square" lIns="91425" tIns="45700" rIns="91425" bIns="45700" anchor="t" anchorCtr="0">
            <a:normAutofit fontScale="47500" lnSpcReduction="20000"/>
          </a:bodyPr>
          <a:lstStyle/>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Open with the big short? Steve Carrell Christian Bale and Ryan Reynolds explained the 2008 financial crash in a whole movie, we have 10 minutes and 2 crashes so how’s that. Key question, can we find the indicators of the 2008 crash in bank balance sheets, can we predict outcomes using it? If so, do they work in 2020?</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Give rough overview of banks vs holding companies, tee up the data. </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Talk about y9c report itself, multiple reports with changes over time, unreadable column names. Cumulative and non cumulative columns we had to manipulate. Quarterly data and the problems it poses. </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Explain why we decided to go with just the y9c report and what limitations it presents. This is part of methods</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Used data dictionary, filing guides, João’s knowledge of finance, literature review, and some help from ChatGPT to narrow down our columns to ~100. We then made the cumulative columns quarterly.</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Results: done in 2 parts</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Show 2008 and 2020 each on their own. Start with 2008, walk through it, then compare it against 2020. Give rough overview of the mechanics of the crash including loan charge offs, loan loss provisions,  Explain that the bailouts likely hide some of the losses. Show prediction fails when you only use a single quarter but works when you include the whole data.</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Here’s where we get into our question again and our results. If the causes are the same then prediction should hold up right? Show difference in loan charge offs, income, use this to show explanatory. Show that predictions based on balance sheet data don’t work for 2020, the crash likely was caused by some other mysterious force that nobody knows…</a:t>
            </a:r>
            <a:endParaRPr sz="2100">
              <a:solidFill>
                <a:srgbClr val="222222"/>
              </a:solidFill>
              <a:highlight>
                <a:srgbClr val="FFFFFF"/>
              </a:highlight>
              <a:latin typeface="Arial"/>
              <a:ea typeface="Arial"/>
              <a:cs typeface="Arial"/>
              <a:sym typeface="Arial"/>
            </a:endParaRPr>
          </a:p>
          <a:p>
            <a:pPr marL="0" lvl="0" indent="0" algn="l" rtl="0">
              <a:lnSpc>
                <a:spcPct val="115000"/>
              </a:lnSpc>
              <a:spcBef>
                <a:spcPts val="1000"/>
              </a:spcBef>
              <a:spcAft>
                <a:spcPts val="0"/>
              </a:spcAft>
              <a:buClr>
                <a:schemeClr val="dk1"/>
              </a:buClr>
              <a:buSzPct val="52380"/>
              <a:buFont typeface="Arial"/>
              <a:buNone/>
            </a:pPr>
            <a:r>
              <a:rPr lang="en-US" sz="2100">
                <a:solidFill>
                  <a:srgbClr val="222222"/>
                </a:solidFill>
                <a:highlight>
                  <a:srgbClr val="FFFFFF"/>
                </a:highlight>
                <a:latin typeface="Arial"/>
                <a:ea typeface="Arial"/>
                <a:cs typeface="Arial"/>
                <a:sym typeface="Arial"/>
              </a:rPr>
              <a:t>Limitations: biggest one is granularity of data. Quarters are long and so much happened in between that we just don’t have access to. Loan information, lives on separate reports that we weren’t able to integrate given our constraints. Changes to the y9c reporting requirements over time make apples to apples comparison more difficult. </a:t>
            </a:r>
            <a:endParaRPr sz="2100">
              <a:solidFill>
                <a:srgbClr val="222222"/>
              </a:solidFill>
              <a:highlight>
                <a:srgbClr val="FFFFFF"/>
              </a:highlight>
              <a:latin typeface="Arial"/>
              <a:ea typeface="Arial"/>
              <a:cs typeface="Arial"/>
              <a:sym typeface="Arial"/>
            </a:endParaRPr>
          </a:p>
          <a:p>
            <a:pPr marL="0" lvl="0" indent="0" algn="l" rtl="0">
              <a:spcBef>
                <a:spcPts val="1000"/>
              </a:spcBef>
              <a:spcAft>
                <a:spcPts val="0"/>
              </a:spcAft>
              <a:buNone/>
            </a:pPr>
            <a:endParaRPr/>
          </a:p>
        </p:txBody>
      </p:sp>
    </p:spTree>
    <p:extLst>
      <p:ext uri="{BB962C8B-B14F-4D97-AF65-F5344CB8AC3E}">
        <p14:creationId xmlns:p14="http://schemas.microsoft.com/office/powerpoint/2010/main" val="2682391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45"/>
        <p:cNvGrpSpPr/>
        <p:nvPr/>
      </p:nvGrpSpPr>
      <p:grpSpPr>
        <a:xfrm>
          <a:off x="0" y="0"/>
          <a:ext cx="0" cy="0"/>
          <a:chOff x="0" y="0"/>
          <a:chExt cx="0" cy="0"/>
        </a:xfrm>
      </p:grpSpPr>
      <p:sp>
        <p:nvSpPr>
          <p:cNvPr id="46" name="Google Shape;46;g3aa2725fc43_0_6"/>
          <p:cNvSpPr txBox="1">
            <a:spLocks noGrp="1"/>
          </p:cNvSpPr>
          <p:nvPr>
            <p:ph type="body" idx="1"/>
          </p:nvPr>
        </p:nvSpPr>
        <p:spPr>
          <a:xfrm>
            <a:off x="628650" y="1408523"/>
            <a:ext cx="7886700" cy="4236300"/>
          </a:xfrm>
          <a:prstGeom prst="rect">
            <a:avLst/>
          </a:prstGeom>
          <a:noFill/>
          <a:ln>
            <a:noFill/>
          </a:ln>
        </p:spPr>
        <p:txBody>
          <a:bodyPr spcFirstLastPara="1" wrap="square" lIns="91425" tIns="45700" rIns="91425" bIns="45700" anchor="t" anchorCtr="0">
            <a:noAutofit/>
          </a:bodyPr>
          <a:lstStyle/>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Intro: Do Balance Sheets Hold The Secret?</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Background: What Even Is a Y9C?</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Methods: Finding Signal in the Noise</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Results: Describing 2008 and 2020</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Predicting Bank Results</a:t>
            </a:r>
            <a:endParaRPr dirty="0">
              <a:solidFill>
                <a:srgbClr val="154734"/>
              </a:solidFill>
              <a:latin typeface="Merriweather"/>
              <a:ea typeface="Merriweather"/>
              <a:cs typeface="Merriweather"/>
              <a:sym typeface="Merriweather"/>
            </a:endParaRPr>
          </a:p>
          <a:p>
            <a:pPr marL="457200" lvl="0" indent="-406400" algn="l" rtl="0">
              <a:lnSpc>
                <a:spcPct val="150000"/>
              </a:lnSpc>
              <a:spcBef>
                <a:spcPts val="0"/>
              </a:spcBef>
              <a:spcAft>
                <a:spcPts val="0"/>
              </a:spcAft>
              <a:buClr>
                <a:srgbClr val="154734"/>
              </a:buClr>
              <a:buSzPts val="2800"/>
              <a:buFont typeface="Merriweather"/>
              <a:buAutoNum type="arabicPeriod"/>
            </a:pPr>
            <a:r>
              <a:rPr lang="en-US" dirty="0">
                <a:solidFill>
                  <a:srgbClr val="154734"/>
                </a:solidFill>
                <a:latin typeface="Merriweather"/>
                <a:ea typeface="Merriweather"/>
                <a:cs typeface="Merriweather"/>
                <a:sym typeface="Merriweather"/>
              </a:rPr>
              <a:t>Discussion: Limitations and Next Steps</a:t>
            </a:r>
            <a:endParaRPr dirty="0">
              <a:solidFill>
                <a:srgbClr val="154734"/>
              </a:solidFill>
              <a:latin typeface="Merriweather"/>
              <a:ea typeface="Merriweather"/>
              <a:cs typeface="Merriweather"/>
              <a:sym typeface="Merriweather"/>
            </a:endParaRPr>
          </a:p>
          <a:p>
            <a:pPr marL="914400" lvl="0" indent="0" algn="l" rtl="0">
              <a:lnSpc>
                <a:spcPct val="90000"/>
              </a:lnSpc>
              <a:spcBef>
                <a:spcPts val="1200"/>
              </a:spcBef>
              <a:spcAft>
                <a:spcPts val="1200"/>
              </a:spcAft>
              <a:buNone/>
            </a:pPr>
            <a:endParaRPr dirty="0"/>
          </a:p>
        </p:txBody>
      </p:sp>
      <p:sp>
        <p:nvSpPr>
          <p:cNvPr id="47" name="Google Shape;47;g3aa2725fc43_0_6"/>
          <p:cNvSpPr txBox="1">
            <a:spLocks noGrp="1"/>
          </p:cNvSpPr>
          <p:nvPr>
            <p:ph type="title"/>
          </p:nvPr>
        </p:nvSpPr>
        <p:spPr>
          <a:xfrm>
            <a:off x="628650" y="154100"/>
            <a:ext cx="7886700" cy="863100"/>
          </a:xfrm>
          <a:prstGeom prst="rect">
            <a:avLst/>
          </a:prstGeom>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1100"/>
              <a:buFont typeface="Arial"/>
              <a:buNone/>
            </a:pPr>
            <a:r>
              <a:rPr lang="en-US">
                <a:latin typeface="Merriweather"/>
                <a:ea typeface="Merriweather"/>
                <a:cs typeface="Merriweather"/>
                <a:sym typeface="Merriweather"/>
              </a:rPr>
              <a:t>Outline</a:t>
            </a:r>
            <a:endParaRPr/>
          </a:p>
        </p:txBody>
      </p:sp>
      <p:sp>
        <p:nvSpPr>
          <p:cNvPr id="48" name="Google Shape;48;g3aa2725fc43_0_6"/>
          <p:cNvSpPr/>
          <p:nvPr/>
        </p:nvSpPr>
        <p:spPr>
          <a:xfrm>
            <a:off x="-4065075" y="3380575"/>
            <a:ext cx="3067500" cy="2082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 there is one slide between 4 and 5 and is methods as well. but not sure how to frame it.</a:t>
            </a:r>
            <a:endParaRPr>
              <a:latin typeface="Calibri"/>
              <a:ea typeface="Calibri"/>
              <a:cs typeface="Calibri"/>
              <a:sym typeface="Calibri"/>
            </a:endParaRPr>
          </a:p>
          <a:p>
            <a:pPr marL="0" lvl="0" indent="0" algn="ctr" rtl="0">
              <a:spcBef>
                <a:spcPts val="0"/>
              </a:spcBef>
              <a:spcAft>
                <a:spcPts val="0"/>
              </a:spcAft>
              <a:buNone/>
            </a:pPr>
            <a:endParaRPr>
              <a:latin typeface="Calibri"/>
              <a:ea typeface="Calibri"/>
              <a:cs typeface="Calibri"/>
              <a:sym typeface="Calibri"/>
            </a:endParaRPr>
          </a:p>
          <a:p>
            <a:pPr marL="0" lvl="0" indent="0" algn="ctr" rtl="0">
              <a:spcBef>
                <a:spcPts val="0"/>
              </a:spcBef>
              <a:spcAft>
                <a:spcPts val="0"/>
              </a:spcAft>
              <a:buNone/>
            </a:pPr>
            <a:r>
              <a:rPr lang="en-US">
                <a:latin typeface="Calibri"/>
                <a:ea typeface="Calibri"/>
                <a:cs typeface="Calibri"/>
                <a:sym typeface="Calibri"/>
              </a:rPr>
              <a:t>also not sure 3. is really methods </a:t>
            </a:r>
            <a:endParaRPr>
              <a:latin typeface="Calibri"/>
              <a:ea typeface="Calibri"/>
              <a:cs typeface="Calibri"/>
              <a:sym typeface="Calibri"/>
            </a:endParaRPr>
          </a:p>
          <a:p>
            <a:pPr marL="0" lvl="0" indent="0" algn="ctr" rtl="0">
              <a:spcBef>
                <a:spcPts val="0"/>
              </a:spcBef>
              <a:spcAft>
                <a:spcPts val="0"/>
              </a:spcAft>
              <a:buNone/>
            </a:pPr>
            <a:endParaRPr>
              <a:latin typeface="Calibri"/>
              <a:ea typeface="Calibri"/>
              <a:cs typeface="Calibri"/>
              <a:sym typeface="Calibri"/>
            </a:endParaRPr>
          </a:p>
          <a:p>
            <a:pPr marL="0" lvl="0" indent="0" algn="ctr" rtl="0">
              <a:spcBef>
                <a:spcPts val="0"/>
              </a:spcBef>
              <a:spcAft>
                <a:spcPts val="0"/>
              </a:spcAft>
              <a:buNone/>
            </a:pPr>
            <a:r>
              <a:rPr lang="en-US">
                <a:latin typeface="Calibri"/>
                <a:ea typeface="Calibri"/>
                <a:cs typeface="Calibri"/>
                <a:sym typeface="Calibri"/>
              </a:rPr>
              <a:t>also I would erase 6.</a:t>
            </a:r>
            <a:endParaRPr>
              <a:latin typeface="Calibri"/>
              <a:ea typeface="Calibri"/>
              <a:cs typeface="Calibri"/>
              <a:sym typeface="Calibri"/>
            </a:endParaRPr>
          </a:p>
        </p:txBody>
      </p:sp>
    </p:spTree>
    <p:extLst>
      <p:ext uri="{BB962C8B-B14F-4D97-AF65-F5344CB8AC3E}">
        <p14:creationId xmlns:p14="http://schemas.microsoft.com/office/powerpoint/2010/main" val="1341254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95">
          <a:extLst>
            <a:ext uri="{FF2B5EF4-FFF2-40B4-BE49-F238E27FC236}">
              <a16:creationId xmlns:a16="http://schemas.microsoft.com/office/drawing/2014/main" id="{812F8937-F675-C265-DFE1-6FB05BF811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814859E-A2DD-E3A0-79EE-1717C7B3A195}"/>
              </a:ext>
            </a:extLst>
          </p:cNvPr>
          <p:cNvSpPr/>
          <p:nvPr/>
        </p:nvSpPr>
        <p:spPr>
          <a:xfrm>
            <a:off x="711198" y="1299328"/>
            <a:ext cx="8128001" cy="1210082"/>
          </a:xfrm>
          <a:prstGeom prst="rect">
            <a:avLst/>
          </a:prstGeom>
          <a:solidFill>
            <a:schemeClr val="accent6">
              <a:lumMod val="20000"/>
              <a:lumOff val="80000"/>
            </a:schemeClr>
          </a:solidFill>
          <a:ln w="38100">
            <a:solidFill>
              <a:srgbClr val="15473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Google Shape;96;g3ac719d7d2a_0_4">
            <a:extLst>
              <a:ext uri="{FF2B5EF4-FFF2-40B4-BE49-F238E27FC236}">
                <a16:creationId xmlns:a16="http://schemas.microsoft.com/office/drawing/2014/main" id="{BA7B9F69-9F2B-F823-B29E-BB0C1E4671A1}"/>
              </a:ext>
            </a:extLst>
          </p:cNvPr>
          <p:cNvSpPr txBox="1">
            <a:spLocks noGrp="1"/>
          </p:cNvSpPr>
          <p:nvPr>
            <p:ph type="title"/>
          </p:nvPr>
        </p:nvSpPr>
        <p:spPr>
          <a:xfrm>
            <a:off x="-457050" y="138700"/>
            <a:ext cx="10058400" cy="855900"/>
          </a:xfrm>
          <a:prstGeom prst="rect">
            <a:avLst/>
          </a:prstGeom>
        </p:spPr>
        <p:txBody>
          <a:bodyPr spcFirstLastPara="1" wrap="square" lIns="91425" tIns="45700" rIns="91425" bIns="45700" anchor="ctr" anchorCtr="0">
            <a:noAutofit/>
          </a:bodyPr>
          <a:lstStyle/>
          <a:p>
            <a:pPr lvl="0" algn="ctr"/>
            <a:r>
              <a:rPr lang="en-US" sz="3700" dirty="0">
                <a:latin typeface="Merriweather"/>
                <a:ea typeface="Merriweather"/>
                <a:cs typeface="Merriweather"/>
                <a:sym typeface="Merriweather"/>
              </a:rPr>
              <a:t>Results: Predicting Bank Results</a:t>
            </a:r>
            <a:endParaRPr sz="3700" dirty="0">
              <a:latin typeface="Merriweather"/>
              <a:ea typeface="Merriweather"/>
              <a:cs typeface="Merriweather"/>
              <a:sym typeface="Merriweather"/>
            </a:endParaRPr>
          </a:p>
        </p:txBody>
      </p:sp>
      <p:sp>
        <p:nvSpPr>
          <p:cNvPr id="97" name="Google Shape;97;g3ac719d7d2a_0_4">
            <a:extLst>
              <a:ext uri="{FF2B5EF4-FFF2-40B4-BE49-F238E27FC236}">
                <a16:creationId xmlns:a16="http://schemas.microsoft.com/office/drawing/2014/main" id="{97094F95-8D17-A90D-B9AE-76ABAEC530EC}"/>
              </a:ext>
            </a:extLst>
          </p:cNvPr>
          <p:cNvSpPr txBox="1">
            <a:spLocks noGrp="1"/>
          </p:cNvSpPr>
          <p:nvPr>
            <p:ph type="body" idx="1"/>
          </p:nvPr>
        </p:nvSpPr>
        <p:spPr>
          <a:xfrm>
            <a:off x="628650" y="1386184"/>
            <a:ext cx="7886700" cy="5125923"/>
          </a:xfrm>
          <a:prstGeom prst="rect">
            <a:avLst/>
          </a:prstGeom>
        </p:spPr>
        <p:txBody>
          <a:bodyPr spcFirstLastPara="1" wrap="square" lIns="91425" tIns="45700" rIns="91425" bIns="45700" anchor="t" anchorCtr="0">
            <a:normAutofit fontScale="47500" lnSpcReduction="20000"/>
          </a:bodyPr>
          <a:lstStyle/>
          <a:p>
            <a:pPr marL="131445" lvl="0" indent="0" algn="l" rtl="0">
              <a:lnSpc>
                <a:spcPct val="120000"/>
              </a:lnSpc>
              <a:spcBef>
                <a:spcPts val="0"/>
              </a:spcBef>
              <a:spcAft>
                <a:spcPts val="0"/>
              </a:spcAft>
              <a:buSzPct val="64285"/>
              <a:buNone/>
            </a:pPr>
            <a:r>
              <a:rPr lang="en-US" sz="4000" b="1" dirty="0">
                <a:latin typeface="Merriweather" panose="00000500000000000000" pitchFamily="2" charset="0"/>
              </a:rPr>
              <a:t>Objective:</a:t>
            </a:r>
          </a:p>
          <a:p>
            <a:pPr marL="588645" indent="-457200">
              <a:lnSpc>
                <a:spcPct val="145000"/>
              </a:lnSpc>
              <a:buSzPct val="64285"/>
              <a:buFont typeface="Arial" panose="020B0604020202020204" pitchFamily="34" charset="0"/>
              <a:buChar char="•"/>
            </a:pPr>
            <a:r>
              <a:rPr lang="en-US" sz="3400" b="1" dirty="0">
                <a:latin typeface="Merriweather" panose="00000500000000000000" pitchFamily="2" charset="0"/>
              </a:rPr>
              <a:t>Identify FRY9C financial institutions disappearing or in bottom 25% in revenue growth performance</a:t>
            </a:r>
          </a:p>
          <a:p>
            <a:pPr marL="588645" indent="-457200">
              <a:lnSpc>
                <a:spcPct val="145000"/>
              </a:lnSpc>
              <a:buSzPct val="64285"/>
              <a:buFont typeface="Arial" panose="020B0604020202020204" pitchFamily="34" charset="0"/>
              <a:buChar char="•"/>
            </a:pPr>
            <a:endParaRPr lang="en-US" sz="3400" dirty="0">
              <a:latin typeface="Merriweather" panose="00000500000000000000" pitchFamily="2" charset="0"/>
            </a:endParaRPr>
          </a:p>
          <a:p>
            <a:pPr marL="588645" indent="-457200">
              <a:lnSpc>
                <a:spcPct val="120000"/>
              </a:lnSpc>
              <a:buSzPct val="64285"/>
              <a:buFont typeface="Arial" panose="020B0604020202020204" pitchFamily="34" charset="0"/>
              <a:buChar char="•"/>
            </a:pPr>
            <a:endParaRPr lang="en-US" sz="1100" dirty="0">
              <a:latin typeface="Merriweather" panose="00000500000000000000" pitchFamily="2" charset="0"/>
            </a:endParaRPr>
          </a:p>
          <a:p>
            <a:pPr marL="131445" indent="0">
              <a:lnSpc>
                <a:spcPct val="120000"/>
              </a:lnSpc>
              <a:buSzPct val="64285"/>
              <a:buNone/>
            </a:pPr>
            <a:r>
              <a:rPr lang="en-US" sz="4000" b="1" dirty="0">
                <a:latin typeface="Merriweather" panose="00000500000000000000" pitchFamily="2" charset="0"/>
              </a:rPr>
              <a:t>Key features : </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General Income statement metrics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Total Revenue, Net Income, Earnings before Tax</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Balance sheet metrics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Total Assets, Total Equity, Assets per class (cash, securities)</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Loans specific metrics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Charged Offs per class (e.g.: to real estate), (Loan) Recoveries per 	class (e.g.: to farmers), Loans Loss Provisions)</a:t>
            </a:r>
          </a:p>
          <a:p>
            <a:pPr marL="588645" indent="-457200">
              <a:lnSpc>
                <a:spcPct val="145000"/>
              </a:lnSpc>
              <a:buSzPct val="64285"/>
              <a:buFont typeface="Arial" panose="020B0604020202020204" pitchFamily="34" charset="0"/>
              <a:buChar char="•"/>
            </a:pPr>
            <a:r>
              <a:rPr lang="en-US" sz="3300" u="sng" dirty="0">
                <a:latin typeface="Merriweather" panose="00000500000000000000" pitchFamily="2" charset="0"/>
              </a:rPr>
              <a:t>Reported resilience ratios</a:t>
            </a:r>
            <a:r>
              <a:rPr lang="en-US" sz="3300" dirty="0">
                <a:latin typeface="Merriweather" panose="00000500000000000000" pitchFamily="2" charset="0"/>
              </a:rPr>
              <a:t>, such as:</a:t>
            </a:r>
            <a:br>
              <a:rPr lang="en-US" sz="3300" dirty="0">
                <a:latin typeface="Merriweather" panose="00000500000000000000" pitchFamily="2" charset="0"/>
              </a:rPr>
            </a:br>
            <a:r>
              <a:rPr lang="en-US" sz="3300" dirty="0">
                <a:latin typeface="Merriweather" panose="00000500000000000000" pitchFamily="2" charset="0"/>
              </a:rPr>
              <a:t>	 Tier 1 Capital Ratio</a:t>
            </a:r>
            <a:endParaRPr sz="3300" dirty="0">
              <a:latin typeface="Merriweather" panose="00000500000000000000" pitchFamily="2" charset="0"/>
            </a:endParaRPr>
          </a:p>
        </p:txBody>
      </p:sp>
    </p:spTree>
    <p:extLst>
      <p:ext uri="{BB962C8B-B14F-4D97-AF65-F5344CB8AC3E}">
        <p14:creationId xmlns:p14="http://schemas.microsoft.com/office/powerpoint/2010/main" val="232843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C88C80-F332-6526-4B88-D32706C116CC}"/>
              </a:ext>
            </a:extLst>
          </p:cNvPr>
          <p:cNvSpPr>
            <a:spLocks noGrp="1"/>
          </p:cNvSpPr>
          <p:nvPr>
            <p:ph type="body" idx="1"/>
          </p:nvPr>
        </p:nvSpPr>
        <p:spPr/>
        <p:txBody>
          <a:bodyPr/>
          <a:lstStyle/>
          <a:p>
            <a:endParaRPr lang="en-US"/>
          </a:p>
        </p:txBody>
      </p:sp>
      <p:pic>
        <p:nvPicPr>
          <p:cNvPr id="32" name="Picture 31" descr="A screenshot of a graph&#10;&#10;AI-generated content may be incorrect.">
            <a:extLst>
              <a:ext uri="{FF2B5EF4-FFF2-40B4-BE49-F238E27FC236}">
                <a16:creationId xmlns:a16="http://schemas.microsoft.com/office/drawing/2014/main" id="{A658DD27-4A66-67E4-FBE9-F2CF8C372FD0}"/>
              </a:ext>
            </a:extLst>
          </p:cNvPr>
          <p:cNvPicPr>
            <a:picLocks noChangeAspect="1"/>
          </p:cNvPicPr>
          <p:nvPr/>
        </p:nvPicPr>
        <p:blipFill>
          <a:blip r:embed="rId2"/>
          <a:stretch>
            <a:fillRect/>
          </a:stretch>
        </p:blipFill>
        <p:spPr>
          <a:xfrm>
            <a:off x="1198711" y="3109466"/>
            <a:ext cx="6870023" cy="2378308"/>
          </a:xfrm>
          <a:prstGeom prst="rect">
            <a:avLst/>
          </a:prstGeom>
        </p:spPr>
      </p:pic>
      <p:pic>
        <p:nvPicPr>
          <p:cNvPr id="34" name="Picture 33" descr="A screenshot of a graph&#10;&#10;AI-generated content may be incorrect.">
            <a:extLst>
              <a:ext uri="{FF2B5EF4-FFF2-40B4-BE49-F238E27FC236}">
                <a16:creationId xmlns:a16="http://schemas.microsoft.com/office/drawing/2014/main" id="{490776F6-0C8F-8AF8-584B-22FEE4B12E51}"/>
              </a:ext>
            </a:extLst>
          </p:cNvPr>
          <p:cNvPicPr>
            <a:picLocks noChangeAspect="1"/>
          </p:cNvPicPr>
          <p:nvPr/>
        </p:nvPicPr>
        <p:blipFill>
          <a:blip r:embed="rId3"/>
          <a:stretch>
            <a:fillRect/>
          </a:stretch>
        </p:blipFill>
        <p:spPr>
          <a:xfrm>
            <a:off x="1198710" y="1000447"/>
            <a:ext cx="6870023" cy="2376375"/>
          </a:xfrm>
          <a:prstGeom prst="rect">
            <a:avLst/>
          </a:prstGeom>
        </p:spPr>
      </p:pic>
      <p:sp>
        <p:nvSpPr>
          <p:cNvPr id="8" name="Google Shape;96;g3ac719d7d2a_0_4">
            <a:extLst>
              <a:ext uri="{FF2B5EF4-FFF2-40B4-BE49-F238E27FC236}">
                <a16:creationId xmlns:a16="http://schemas.microsoft.com/office/drawing/2014/main" id="{14017AC1-1D06-7F44-4F70-A6ABC9B2B610}"/>
              </a:ext>
            </a:extLst>
          </p:cNvPr>
          <p:cNvSpPr txBox="1">
            <a:spLocks/>
          </p:cNvSpPr>
          <p:nvPr/>
        </p:nvSpPr>
        <p:spPr>
          <a:xfrm>
            <a:off x="-457050" y="138700"/>
            <a:ext cx="10058400" cy="8559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4734"/>
              </a:buClr>
              <a:buSzPts val="4200"/>
              <a:buFont typeface="Calibri"/>
              <a:buNone/>
              <a:defRPr sz="4200" b="1" i="0" u="none" strike="noStrike" cap="none">
                <a:solidFill>
                  <a:srgbClr val="15473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3700" dirty="0">
                <a:latin typeface="Merriweather"/>
                <a:ea typeface="Merriweather"/>
                <a:cs typeface="Merriweather"/>
                <a:sym typeface="Merriweather"/>
              </a:rPr>
              <a:t>Results: Predicting Bank Results</a:t>
            </a:r>
          </a:p>
        </p:txBody>
      </p:sp>
      <p:sp>
        <p:nvSpPr>
          <p:cNvPr id="9" name="Rectangle 8">
            <a:extLst>
              <a:ext uri="{FF2B5EF4-FFF2-40B4-BE49-F238E27FC236}">
                <a16:creationId xmlns:a16="http://schemas.microsoft.com/office/drawing/2014/main" id="{78E207BC-A6C6-A0E1-77D0-2AA12B5CCB8C}"/>
              </a:ext>
            </a:extLst>
          </p:cNvPr>
          <p:cNvSpPr/>
          <p:nvPr/>
        </p:nvSpPr>
        <p:spPr>
          <a:xfrm>
            <a:off x="1989986" y="5791927"/>
            <a:ext cx="352541" cy="199000"/>
          </a:xfrm>
          <a:prstGeom prst="rect">
            <a:avLst/>
          </a:prstGeom>
          <a:solidFill>
            <a:srgbClr val="4FA8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E88D6B-BFD5-BCF6-DA1D-251C103F1369}"/>
              </a:ext>
            </a:extLst>
          </p:cNvPr>
          <p:cNvSpPr/>
          <p:nvPr/>
        </p:nvSpPr>
        <p:spPr>
          <a:xfrm>
            <a:off x="5397214" y="5791927"/>
            <a:ext cx="352541" cy="199000"/>
          </a:xfrm>
          <a:prstGeom prst="rect">
            <a:avLst/>
          </a:prstGeom>
          <a:solidFill>
            <a:srgbClr val="DF81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9C6D1CD-827A-DD0F-CDFA-7C88C5F3BCE1}"/>
              </a:ext>
            </a:extLst>
          </p:cNvPr>
          <p:cNvSpPr txBox="1"/>
          <p:nvPr/>
        </p:nvSpPr>
        <p:spPr>
          <a:xfrm>
            <a:off x="2394855" y="5761975"/>
            <a:ext cx="1785257" cy="261610"/>
          </a:xfrm>
          <a:prstGeom prst="rect">
            <a:avLst/>
          </a:prstGeom>
          <a:noFill/>
        </p:spPr>
        <p:txBody>
          <a:bodyPr wrap="square" rtlCol="0">
            <a:spAutoFit/>
          </a:bodyPr>
          <a:lstStyle/>
          <a:p>
            <a:r>
              <a:rPr lang="en-US" sz="1050" dirty="0">
                <a:latin typeface="Merriweather" panose="00000500000000000000" pitchFamily="2" charset="0"/>
              </a:rPr>
              <a:t> Financial crises</a:t>
            </a:r>
          </a:p>
        </p:txBody>
      </p:sp>
      <p:sp>
        <p:nvSpPr>
          <p:cNvPr id="12" name="TextBox 11">
            <a:extLst>
              <a:ext uri="{FF2B5EF4-FFF2-40B4-BE49-F238E27FC236}">
                <a16:creationId xmlns:a16="http://schemas.microsoft.com/office/drawing/2014/main" id="{CD1C6152-4F3F-7996-A107-646CD1C6D116}"/>
              </a:ext>
            </a:extLst>
          </p:cNvPr>
          <p:cNvSpPr txBox="1"/>
          <p:nvPr/>
        </p:nvSpPr>
        <p:spPr>
          <a:xfrm>
            <a:off x="5863629" y="5761975"/>
            <a:ext cx="1785257" cy="261610"/>
          </a:xfrm>
          <a:prstGeom prst="rect">
            <a:avLst/>
          </a:prstGeom>
          <a:noFill/>
        </p:spPr>
        <p:txBody>
          <a:bodyPr wrap="square" rtlCol="0">
            <a:spAutoFit/>
          </a:bodyPr>
          <a:lstStyle/>
          <a:p>
            <a:r>
              <a:rPr lang="en-US" sz="1050" dirty="0">
                <a:latin typeface="Merriweather" panose="00000500000000000000" pitchFamily="2" charset="0"/>
              </a:rPr>
              <a:t>Covid financial turmoil</a:t>
            </a:r>
          </a:p>
        </p:txBody>
      </p:sp>
    </p:spTree>
    <p:extLst>
      <p:ext uri="{BB962C8B-B14F-4D97-AF65-F5344CB8AC3E}">
        <p14:creationId xmlns:p14="http://schemas.microsoft.com/office/powerpoint/2010/main" val="2770767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08"/>
        <p:cNvGrpSpPr/>
        <p:nvPr/>
      </p:nvGrpSpPr>
      <p:grpSpPr>
        <a:xfrm>
          <a:off x="0" y="0"/>
          <a:ext cx="0" cy="0"/>
          <a:chOff x="0" y="0"/>
          <a:chExt cx="0" cy="0"/>
        </a:xfrm>
      </p:grpSpPr>
      <p:sp>
        <p:nvSpPr>
          <p:cNvPr id="109" name="Google Shape;109;g3abb392cea2_0_65"/>
          <p:cNvSpPr txBox="1">
            <a:spLocks noGrp="1"/>
          </p:cNvSpPr>
          <p:nvPr>
            <p:ph type="title"/>
          </p:nvPr>
        </p:nvSpPr>
        <p:spPr>
          <a:xfrm>
            <a:off x="628650" y="138700"/>
            <a:ext cx="7886700" cy="786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dirty="0">
                <a:latin typeface="Merriweather"/>
                <a:ea typeface="Merriweather"/>
                <a:cs typeface="Merriweather"/>
                <a:sym typeface="Merriweather"/>
              </a:rPr>
              <a:t>Trial 1 &amp; 2: 2008 vs. 2020</a:t>
            </a:r>
            <a:endParaRPr dirty="0">
              <a:latin typeface="Merriweather"/>
              <a:ea typeface="Merriweather"/>
              <a:cs typeface="Merriweather"/>
              <a:sym typeface="Merriweather"/>
            </a:endParaRPr>
          </a:p>
        </p:txBody>
      </p:sp>
      <p:pic>
        <p:nvPicPr>
          <p:cNvPr id="110" name="Google Shape;110;g3abb392cea2_0_65" title="Screen Shot 2025-12-01 at 10.10.50 PM.png"/>
          <p:cNvPicPr preferRelativeResize="0"/>
          <p:nvPr/>
        </p:nvPicPr>
        <p:blipFill rotWithShape="1">
          <a:blip r:embed="rId3">
            <a:alphaModFix/>
          </a:blip>
          <a:srcRect l="544" r="544"/>
          <a:stretch/>
        </p:blipFill>
        <p:spPr>
          <a:xfrm>
            <a:off x="0" y="1238003"/>
            <a:ext cx="9144000" cy="4381995"/>
          </a:xfrm>
          <a:prstGeom prst="rect">
            <a:avLst/>
          </a:prstGeom>
          <a:noFill/>
          <a:ln>
            <a:noFill/>
          </a:ln>
        </p:spPr>
      </p:pic>
    </p:spTree>
    <p:extLst>
      <p:ext uri="{BB962C8B-B14F-4D97-AF65-F5344CB8AC3E}">
        <p14:creationId xmlns:p14="http://schemas.microsoft.com/office/powerpoint/2010/main" val="3284395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114"/>
        <p:cNvGrpSpPr/>
        <p:nvPr/>
      </p:nvGrpSpPr>
      <p:grpSpPr>
        <a:xfrm>
          <a:off x="0" y="0"/>
          <a:ext cx="0" cy="0"/>
          <a:chOff x="0" y="0"/>
          <a:chExt cx="0" cy="0"/>
        </a:xfrm>
      </p:grpSpPr>
      <p:sp>
        <p:nvSpPr>
          <p:cNvPr id="115" name="Google Shape;115;g3abb392cea2_0_57"/>
          <p:cNvSpPr txBox="1">
            <a:spLocks noGrp="1"/>
          </p:cNvSpPr>
          <p:nvPr>
            <p:ph type="title"/>
          </p:nvPr>
        </p:nvSpPr>
        <p:spPr>
          <a:xfrm>
            <a:off x="628650" y="138700"/>
            <a:ext cx="7886700" cy="863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Merriweather"/>
                <a:ea typeface="Merriweather"/>
                <a:cs typeface="Merriweather"/>
                <a:sym typeface="Merriweather"/>
              </a:rPr>
              <a:t>Trial 3: 2008 vs. 2020</a:t>
            </a:r>
            <a:endParaRPr>
              <a:latin typeface="Merriweather"/>
              <a:ea typeface="Merriweather"/>
              <a:cs typeface="Merriweather"/>
              <a:sym typeface="Merriweather"/>
            </a:endParaRPr>
          </a:p>
        </p:txBody>
      </p:sp>
      <p:pic>
        <p:nvPicPr>
          <p:cNvPr id="116" name="Google Shape;116;g3abb392cea2_0_57"/>
          <p:cNvPicPr preferRelativeResize="0"/>
          <p:nvPr/>
        </p:nvPicPr>
        <p:blipFill>
          <a:blip r:embed="rId3">
            <a:alphaModFix/>
          </a:blip>
          <a:stretch>
            <a:fillRect/>
          </a:stretch>
        </p:blipFill>
        <p:spPr>
          <a:xfrm>
            <a:off x="-1" y="1142995"/>
            <a:ext cx="4572001" cy="4572000"/>
          </a:xfrm>
          <a:prstGeom prst="rect">
            <a:avLst/>
          </a:prstGeom>
          <a:noFill/>
          <a:ln>
            <a:noFill/>
          </a:ln>
        </p:spPr>
      </p:pic>
      <p:pic>
        <p:nvPicPr>
          <p:cNvPr id="117" name="Google Shape;117;g3abb392cea2_0_57"/>
          <p:cNvPicPr preferRelativeResize="0"/>
          <p:nvPr/>
        </p:nvPicPr>
        <p:blipFill>
          <a:blip r:embed="rId4">
            <a:alphaModFix/>
          </a:blip>
          <a:stretch>
            <a:fillRect/>
          </a:stretch>
        </p:blipFill>
        <p:spPr>
          <a:xfrm>
            <a:off x="4572001" y="1143000"/>
            <a:ext cx="4572001" cy="4572000"/>
          </a:xfrm>
          <a:prstGeom prst="rect">
            <a:avLst/>
          </a:prstGeom>
          <a:noFill/>
          <a:ln>
            <a:noFill/>
          </a:ln>
        </p:spPr>
      </p:pic>
      <p:pic>
        <p:nvPicPr>
          <p:cNvPr id="118" name="Google Shape;118;g3abb392cea2_0_57"/>
          <p:cNvPicPr preferRelativeResize="0"/>
          <p:nvPr/>
        </p:nvPicPr>
        <p:blipFill>
          <a:blip r:embed="rId5">
            <a:alphaModFix/>
          </a:blip>
          <a:stretch>
            <a:fillRect/>
          </a:stretch>
        </p:blipFill>
        <p:spPr>
          <a:xfrm>
            <a:off x="-4810926" y="2253125"/>
            <a:ext cx="5622477" cy="4433748"/>
          </a:xfrm>
          <a:prstGeom prst="rect">
            <a:avLst/>
          </a:prstGeom>
          <a:noFill/>
          <a:ln>
            <a:noFill/>
          </a:ln>
        </p:spPr>
      </p:pic>
      <p:sp>
        <p:nvSpPr>
          <p:cNvPr id="119" name="Google Shape;119;g3abb392cea2_0_57"/>
          <p:cNvSpPr/>
          <p:nvPr/>
        </p:nvSpPr>
        <p:spPr>
          <a:xfrm>
            <a:off x="-2660550" y="1798450"/>
            <a:ext cx="2660700" cy="1436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 can you substitute the left hand side image by this? don’t know how to edit images in powerpoint online (loyal to powerpoint app ahahah)</a:t>
            </a:r>
            <a:endParaRPr>
              <a:latin typeface="Calibri"/>
              <a:ea typeface="Calibri"/>
              <a:cs typeface="Calibri"/>
              <a:sym typeface="Calibri"/>
            </a:endParaRPr>
          </a:p>
        </p:txBody>
      </p:sp>
      <p:sp>
        <p:nvSpPr>
          <p:cNvPr id="120" name="Google Shape;120;g3abb392cea2_0_57"/>
          <p:cNvSpPr/>
          <p:nvPr/>
        </p:nvSpPr>
        <p:spPr>
          <a:xfrm>
            <a:off x="-5171925" y="0"/>
            <a:ext cx="2660700" cy="1436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Calibri"/>
                <a:ea typeface="Calibri"/>
                <a:cs typeface="Calibri"/>
                <a:sym typeface="Calibri"/>
              </a:rPr>
              <a:t>changed the order of the slides (I think telling the story by focusing first on trial 4 makes more sense). to makae sense to the viewer trial 3 in presentation corresponds to trial 4 in images in github</a:t>
            </a:r>
            <a:endParaRPr>
              <a:latin typeface="Calibri"/>
              <a:ea typeface="Calibri"/>
              <a:cs typeface="Calibri"/>
              <a:sym typeface="Calibri"/>
            </a:endParaRPr>
          </a:p>
        </p:txBody>
      </p:sp>
    </p:spTree>
    <p:extLst>
      <p:ext uri="{BB962C8B-B14F-4D97-AF65-F5344CB8AC3E}">
        <p14:creationId xmlns:p14="http://schemas.microsoft.com/office/powerpoint/2010/main" val="1510988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124"/>
        <p:cNvGrpSpPr/>
        <p:nvPr/>
      </p:nvGrpSpPr>
      <p:grpSpPr>
        <a:xfrm>
          <a:off x="0" y="0"/>
          <a:ext cx="0" cy="0"/>
          <a:chOff x="0" y="0"/>
          <a:chExt cx="0" cy="0"/>
        </a:xfrm>
      </p:grpSpPr>
      <p:sp>
        <p:nvSpPr>
          <p:cNvPr id="125" name="Google Shape;125;g3abb392cea2_0_50"/>
          <p:cNvSpPr txBox="1">
            <a:spLocks noGrp="1"/>
          </p:cNvSpPr>
          <p:nvPr>
            <p:ph type="title"/>
          </p:nvPr>
        </p:nvSpPr>
        <p:spPr>
          <a:xfrm>
            <a:off x="628650" y="138700"/>
            <a:ext cx="7886700" cy="863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Merriweather"/>
                <a:ea typeface="Merriweather"/>
                <a:cs typeface="Merriweather"/>
                <a:sym typeface="Merriweather"/>
              </a:rPr>
              <a:t>Trial 4: 2008 vs. 2020</a:t>
            </a:r>
            <a:endParaRPr>
              <a:latin typeface="Merriweather"/>
              <a:ea typeface="Merriweather"/>
              <a:cs typeface="Merriweather"/>
              <a:sym typeface="Merriweather"/>
            </a:endParaRPr>
          </a:p>
        </p:txBody>
      </p:sp>
      <p:pic>
        <p:nvPicPr>
          <p:cNvPr id="126" name="Google Shape;126;g3abb392cea2_0_50"/>
          <p:cNvPicPr preferRelativeResize="0"/>
          <p:nvPr/>
        </p:nvPicPr>
        <p:blipFill>
          <a:blip r:embed="rId3">
            <a:alphaModFix/>
          </a:blip>
          <a:stretch>
            <a:fillRect/>
          </a:stretch>
        </p:blipFill>
        <p:spPr>
          <a:xfrm>
            <a:off x="-1" y="1143000"/>
            <a:ext cx="4572001" cy="4572000"/>
          </a:xfrm>
          <a:prstGeom prst="rect">
            <a:avLst/>
          </a:prstGeom>
          <a:noFill/>
          <a:ln>
            <a:noFill/>
          </a:ln>
        </p:spPr>
      </p:pic>
      <p:pic>
        <p:nvPicPr>
          <p:cNvPr id="127" name="Google Shape;127;g3abb392cea2_0_50"/>
          <p:cNvPicPr preferRelativeResize="0"/>
          <p:nvPr/>
        </p:nvPicPr>
        <p:blipFill>
          <a:blip r:embed="rId4">
            <a:alphaModFix/>
          </a:blip>
          <a:stretch>
            <a:fillRect/>
          </a:stretch>
        </p:blipFill>
        <p:spPr>
          <a:xfrm>
            <a:off x="4572000" y="1143000"/>
            <a:ext cx="4572001" cy="4572000"/>
          </a:xfrm>
          <a:prstGeom prst="rect">
            <a:avLst/>
          </a:prstGeom>
          <a:noFill/>
          <a:ln>
            <a:noFill/>
          </a:ln>
        </p:spPr>
      </p:pic>
    </p:spTree>
    <p:extLst>
      <p:ext uri="{BB962C8B-B14F-4D97-AF65-F5344CB8AC3E}">
        <p14:creationId xmlns:p14="http://schemas.microsoft.com/office/powerpoint/2010/main" val="1613239189"/>
      </p:ext>
    </p:extLst>
  </p:cSld>
  <p:clrMapOvr>
    <a:masterClrMapping/>
  </p:clrMapOvr>
</p:sld>
</file>

<file path=ppt/theme/theme1.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TotalTime>
  <Words>2309</Words>
  <Application>Microsoft Office PowerPoint</Application>
  <PresentationFormat>On-screen Show (4:3)</PresentationFormat>
  <Paragraphs>142</Paragraphs>
  <Slides>22</Slides>
  <Notes>19</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Merriweather</vt:lpstr>
      <vt:lpstr>Libre Franklin Medium</vt:lpstr>
      <vt:lpstr>Century Gothic</vt:lpstr>
      <vt:lpstr>Calibri</vt:lpstr>
      <vt:lpstr>Arial</vt:lpstr>
      <vt:lpstr>1_Custom Design</vt:lpstr>
      <vt:lpstr>FRY9C Reports, Banking, and Crashes: </vt:lpstr>
      <vt:lpstr>PowerPoint Presentation</vt:lpstr>
      <vt:lpstr>PowerPoint Presentation</vt:lpstr>
      <vt:lpstr>PowerPoint Presentation</vt:lpstr>
      <vt:lpstr>Methods: Finding the Signal</vt:lpstr>
      <vt:lpstr>PowerPoint Presentation</vt:lpstr>
      <vt:lpstr>Results: Describing 2020</vt:lpstr>
      <vt:lpstr>Results: Predicting Bank Results</vt:lpstr>
      <vt:lpstr>PowerPoint Presentation</vt:lpstr>
      <vt:lpstr>PowerPoint Presentation</vt:lpstr>
      <vt:lpstr>PowerPoint Presentation</vt:lpstr>
      <vt:lpstr>PowerPoint Presentation</vt:lpstr>
      <vt:lpstr>Discussion, Limitations, Next Steps</vt:lpstr>
      <vt:lpstr>Thank you!</vt:lpstr>
      <vt:lpstr>Discussion, Limitations, Next Steps</vt:lpstr>
      <vt:lpstr>OUTLINE</vt:lpstr>
      <vt:lpstr>Outline</vt:lpstr>
      <vt:lpstr>Results: Predicting Bank Results</vt:lpstr>
      <vt:lpstr>PowerPoint Presentation</vt:lpstr>
      <vt:lpstr>Trial 1 &amp; 2: 2008 vs. 2020</vt:lpstr>
      <vt:lpstr>Trial 3: 2008 vs. 2020</vt:lpstr>
      <vt:lpstr>Trial 4: 2008 vs. 2020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Helen Flannery</dc:creator>
  <cp:lastModifiedBy>João Franco</cp:lastModifiedBy>
  <cp:revision>2</cp:revision>
  <dcterms:created xsi:type="dcterms:W3CDTF">2025-11-14T18:28:35Z</dcterms:created>
  <dcterms:modified xsi:type="dcterms:W3CDTF">2025-12-02T21:25:30Z</dcterms:modified>
</cp:coreProperties>
</file>